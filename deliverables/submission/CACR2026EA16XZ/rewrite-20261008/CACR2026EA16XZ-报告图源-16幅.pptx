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6.xml" ContentType="application/vnd.openxmlformats-officedocument.drawingml.chart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5514802cf849df" /><Relationship Type="http://schemas.openxmlformats.org/officeDocument/2006/relationships/extended-properties" Target="/docProps/app.xml" Id="Rb21293165f434bbe" /><Relationship Type="http://schemas.openxmlformats.org/officeDocument/2006/relationships/officeDocument" Target="/ppt/presentation.xml" Id="Re58c0f2e7fe742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8cf7e6134f4c1f"/>
  </p:sldMasterIdLst>
  <p:notesMasterIdLst>
    <p:notesMasterId xmlns:r="http://schemas.openxmlformats.org/officeDocument/2006/relationships" r:id="R6f2d402aa4534bb1"/>
  </p:notesMasterIdLst>
  <p:sldIdLst>
    <p:sldId xmlns:r="http://schemas.openxmlformats.org/officeDocument/2006/relationships" id="256" r:id="R74b73033d1ee405e"/>
    <p:sldId xmlns:r="http://schemas.openxmlformats.org/officeDocument/2006/relationships" id="257" r:id="R7c79c1683b8745d2"/>
    <p:sldId xmlns:r="http://schemas.openxmlformats.org/officeDocument/2006/relationships" id="258" r:id="R52475fd05f2941e9"/>
    <p:sldId xmlns:r="http://schemas.openxmlformats.org/officeDocument/2006/relationships" id="259" r:id="R8f103a86ae6b43d7"/>
    <p:sldId xmlns:r="http://schemas.openxmlformats.org/officeDocument/2006/relationships" id="260" r:id="Reaa210f60f4d4544"/>
    <p:sldId xmlns:r="http://schemas.openxmlformats.org/officeDocument/2006/relationships" id="261" r:id="Ra0eb931695ff4b5f"/>
    <p:sldId xmlns:r="http://schemas.openxmlformats.org/officeDocument/2006/relationships" id="262" r:id="R4c10c0059f9f40c1"/>
    <p:sldId xmlns:r="http://schemas.openxmlformats.org/officeDocument/2006/relationships" id="263" r:id="R661a89d37e054d4a"/>
    <p:sldId xmlns:r="http://schemas.openxmlformats.org/officeDocument/2006/relationships" id="264" r:id="R32599aa6be5b4c50"/>
    <p:sldId xmlns:r="http://schemas.openxmlformats.org/officeDocument/2006/relationships" id="265" r:id="R229ab8c06ebd4614"/>
    <p:sldId xmlns:r="http://schemas.openxmlformats.org/officeDocument/2006/relationships" id="266" r:id="Rc4b9ca1f46254811"/>
    <p:sldId xmlns:r="http://schemas.openxmlformats.org/officeDocument/2006/relationships" id="267" r:id="Rd4184b0bf8384a89"/>
    <p:sldId xmlns:r="http://schemas.openxmlformats.org/officeDocument/2006/relationships" id="268" r:id="Rca01262a94764ddf"/>
    <p:sldId xmlns:r="http://schemas.openxmlformats.org/officeDocument/2006/relationships" id="269" r:id="R8af071f0abbb46ef"/>
    <p:sldId xmlns:r="http://schemas.openxmlformats.org/officeDocument/2006/relationships" id="270" r:id="R6f369bc0ddd94891"/>
    <p:sldId xmlns:r="http://schemas.openxmlformats.org/officeDocument/2006/relationships" id="271" r:id="R8ddb3ce3230f4e6e"/>
  </p:sldIdLst>
  <p:sldSz cx="8572500" cy="4286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109a479d4543f1" /><Relationship Type="http://schemas.openxmlformats.org/officeDocument/2006/relationships/slideMaster" Target="/ppt/slideMasters/slideMaster1.xml" Id="Rfe8cf7e6134f4c1f" /><Relationship Type="http://schemas.openxmlformats.org/officeDocument/2006/relationships/notesMaster" Target="/ppt/notesMasters/notesMaster1.xml" Id="R6f2d402aa4534bb1" /><Relationship Type="http://schemas.openxmlformats.org/officeDocument/2006/relationships/presProps" Target="/ppt/presProps.xml" Id="Rda6d368d33254098" /><Relationship Type="http://schemas.openxmlformats.org/officeDocument/2006/relationships/tableStyles" Target="/ppt/tableStyles.xml" Id="R8587afc5874b4e01" /><Relationship Type="http://schemas.openxmlformats.org/officeDocument/2006/relationships/slide" Target="/ppt/slides/slide1.xml" Id="R74b73033d1ee405e" /><Relationship Type="http://schemas.openxmlformats.org/officeDocument/2006/relationships/slide" Target="/ppt/slides/slide2.xml" Id="R7c79c1683b8745d2" /><Relationship Type="http://schemas.openxmlformats.org/officeDocument/2006/relationships/slide" Target="/ppt/slides/slide3.xml" Id="R52475fd05f2941e9" /><Relationship Type="http://schemas.openxmlformats.org/officeDocument/2006/relationships/slide" Target="/ppt/slides/slide4.xml" Id="R8f103a86ae6b43d7" /><Relationship Type="http://schemas.openxmlformats.org/officeDocument/2006/relationships/slide" Target="/ppt/slides/slide5.xml" Id="Reaa210f60f4d4544" /><Relationship Type="http://schemas.openxmlformats.org/officeDocument/2006/relationships/slide" Target="/ppt/slides/slide6.xml" Id="Ra0eb931695ff4b5f" /><Relationship Type="http://schemas.openxmlformats.org/officeDocument/2006/relationships/slide" Target="/ppt/slides/slide7.xml" Id="R4c10c0059f9f40c1" /><Relationship Type="http://schemas.openxmlformats.org/officeDocument/2006/relationships/slide" Target="/ppt/slides/slide8.xml" Id="R661a89d37e054d4a" /><Relationship Type="http://schemas.openxmlformats.org/officeDocument/2006/relationships/slide" Target="/ppt/slides/slide9.xml" Id="R32599aa6be5b4c50" /><Relationship Type="http://schemas.openxmlformats.org/officeDocument/2006/relationships/slide" Target="/ppt/slides/slide10.xml" Id="R229ab8c06ebd4614" /><Relationship Type="http://schemas.openxmlformats.org/officeDocument/2006/relationships/slide" Target="/ppt/slides/slide11.xml" Id="Rc4b9ca1f46254811" /><Relationship Type="http://schemas.openxmlformats.org/officeDocument/2006/relationships/slide" Target="/ppt/slides/slide12.xml" Id="Rd4184b0bf8384a89" /><Relationship Type="http://schemas.openxmlformats.org/officeDocument/2006/relationships/slide" Target="/ppt/slides/slide13.xml" Id="Rca01262a94764ddf" /><Relationship Type="http://schemas.openxmlformats.org/officeDocument/2006/relationships/slide" Target="/ppt/slides/slide14.xml" Id="R8af071f0abbb46ef" /><Relationship Type="http://schemas.openxmlformats.org/officeDocument/2006/relationships/slide" Target="/ppt/slides/slide15.xml" Id="R6f369bc0ddd94891" /><Relationship Type="http://schemas.openxmlformats.org/officeDocument/2006/relationships/slide" Target="/ppt/slides/slide16.xml" Id="R8ddb3ce3230f4e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a9a57ac53c41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35961ba485499d" /><Relationship Type="http://schemas.openxmlformats.org/officeDocument/2006/relationships/notesMaster" Target="/ppt/notesMasters/notesMaster1.xml" Id="Re0250e2dc09f45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59379736114dd9" /><Relationship Type="http://schemas.openxmlformats.org/officeDocument/2006/relationships/notesMaster" Target="/ppt/notesMasters/notesMaster1.xml" Id="R4d7a8c5eb7bb47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5e511da7444c23" /><Relationship Type="http://schemas.openxmlformats.org/officeDocument/2006/relationships/notesMaster" Target="/ppt/notesMasters/notesMaster1.xml" Id="Rdb9e4ae39c1142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be8f03e2064d5e" /><Relationship Type="http://schemas.openxmlformats.org/officeDocument/2006/relationships/notesMaster" Target="/ppt/notesMasters/notesMaster1.xml" Id="Rc7a60e717b5a4a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077c4800284077" /><Relationship Type="http://schemas.openxmlformats.org/officeDocument/2006/relationships/notesMaster" Target="/ppt/notesMasters/notesMaster1.xml" Id="Rb1bc09d46f8a4a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fde60c21c3486b" /><Relationship Type="http://schemas.openxmlformats.org/officeDocument/2006/relationships/notesMaster" Target="/ppt/notesMasters/notesMaster1.xml" Id="Rba1a3a9261e947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6b9e163ec94697" /><Relationship Type="http://schemas.openxmlformats.org/officeDocument/2006/relationships/notesMaster" Target="/ppt/notesMasters/notesMaster1.xml" Id="R5b5184f3575f4d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9b96e91b014a22" /><Relationship Type="http://schemas.openxmlformats.org/officeDocument/2006/relationships/notesMaster" Target="/ppt/notesMasters/notesMaster1.xml" Id="Racd2bc7f4f6249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cca3d944954e6c" /><Relationship Type="http://schemas.openxmlformats.org/officeDocument/2006/relationships/notesMaster" Target="/ppt/notesMasters/notesMaster1.xml" Id="R696f936d7b8148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f356180bdd4ee9" /><Relationship Type="http://schemas.openxmlformats.org/officeDocument/2006/relationships/notesMaster" Target="/ppt/notesMasters/notesMaster1.xml" Id="R522b657847b74e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9fca01043243ff" /><Relationship Type="http://schemas.openxmlformats.org/officeDocument/2006/relationships/notesMaster" Target="/ppt/notesMasters/notesMaster1.xml" Id="R122a74c3b9d74e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b20e0faad54aac" /><Relationship Type="http://schemas.openxmlformats.org/officeDocument/2006/relationships/notesMaster" Target="/ppt/notesMasters/notesMaster1.xml" Id="R45d48071180542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d42a0bc3e649de" /><Relationship Type="http://schemas.openxmlformats.org/officeDocument/2006/relationships/notesMaster" Target="/ppt/notesMasters/notesMaster1.xml" Id="R42d98c73031749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05d3eb813c4182" /><Relationship Type="http://schemas.openxmlformats.org/officeDocument/2006/relationships/notesMaster" Target="/ppt/notesMasters/notesMaster1.xml" Id="R90ecb7590d374e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1392dec3bb4dcc" /><Relationship Type="http://schemas.openxmlformats.org/officeDocument/2006/relationships/notesMaster" Target="/ppt/notesMasters/notesMaster1.xml" Id="R8a094d2877104f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35550c07f34e02" /><Relationship Type="http://schemas.openxmlformats.org/officeDocument/2006/relationships/notesMaster" Target="/ppt/notesMasters/notesMaster1.xml" Id="R7ebebacd7d8142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资料来源：docs/product-workflow.md；docs/contribution-positioning.md。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资料来源：FIPS 203；现有报告2.1。仅说明标准功能关系。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资料来源：现有报告2.1；docs/validation.md。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资料来源：docs/timing.md；docs/reference-benchmark.md。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资料来源：docs/product-workflow.md；docs/final-reproduction.md。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资料来源：docs/controlled-comparison-v1.md；docs/contribution-positioning.md。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资料来源：docs/controlled-comparison-v1.md；SciPy permutation_test。通用无秘密整数统计示意，不是密码输入构造。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资料来源：docs/defense-evidence-gap.md；docs/contribution-positioning.md。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资料来源：docs/validation.md；docs/evidence/candidate-round-20261007/README.md。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资料来源：docs/evidence/native-final-20261007/performance/performance.report。全部18次运行均值，单位由ns换算为μs；非零纵轴。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资料来源：docs/evidence/candidate-round-20261007/native/perf/performance.report。全部18次运行均值，单位由ns换算为μs；非零纵轴。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资料来源：docs/evidence/controlled-comparison-20261007/confirmation-results/comparison.report；docs/evidence/warm-replay-20261007/formal/comparison.report。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资料来源：docs/evidence/finite-calibration-20261007/model/summary.report。所有十项原始拒绝数保留，分母均4096。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资料来源：docs/evidence/reference-label-control-20261007/qualified/control/summary.report。每块固定原序24条组成12对，4096种标签全部枚举。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资料来源：docs/final-reproduction.md；docs/product-workflow.md。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资料来源：docs/evidence/r07-linux-20261008/raw/*.groups.report。只读归档统计结果；分组原名义秩检验阈值0.001，不是精确随机化路径。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c8e444a43245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2b39ef4b094c55" /><Relationship Type="http://schemas.openxmlformats.org/officeDocument/2006/relationships/slideLayout" Target="/ppt/slideLayouts/slideLayout1.xml" Id="R0267f6ffd75c47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67f6ffd75c47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5323702ef4f46" /><Relationship Type="http://schemas.openxmlformats.org/officeDocument/2006/relationships/notesSlide" Target="/ppt/notesSlides/notesSlide1.xml" Id="R1b2607f392b84f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65250b0d04a9c" /><Relationship Type="http://schemas.openxmlformats.org/officeDocument/2006/relationships/notesSlide" Target="/ppt/notesSlides/notesSlide2.xml" Id="R4ccd95976f194a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325823b004b34" /><Relationship Type="http://schemas.openxmlformats.org/officeDocument/2006/relationships/notesSlide" Target="/ppt/notesSlides/notesSlide3.xml" Id="R114ab46400624a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4ccd1ee3a4c69" /><Relationship Type="http://schemas.openxmlformats.org/officeDocument/2006/relationships/notesSlide" Target="/ppt/notesSlides/notesSlide4.xml" Id="R6c9b659f0ec245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89ed13f414c52" /><Relationship Type="http://schemas.openxmlformats.org/officeDocument/2006/relationships/notesSlide" Target="/ppt/notesSlides/notesSlide5.xml" Id="Rdd3ac06ca84149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abf9000ac4f0f" /><Relationship Type="http://schemas.openxmlformats.org/officeDocument/2006/relationships/notesSlide" Target="/ppt/notesSlides/notesSlide6.xml" Id="R4618286bc3d346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75c6943184e19" /><Relationship Type="http://schemas.openxmlformats.org/officeDocument/2006/relationships/notesSlide" Target="/ppt/notesSlides/notesSlide7.xml" Id="R691feba9b82f4c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22b8b8e9048d0" /><Relationship Type="http://schemas.openxmlformats.org/officeDocument/2006/relationships/notesSlide" Target="/ppt/notesSlides/notesSlide8.xml" Id="R10e4fa94f66344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8101d9c4a4c1a" /><Relationship Type="http://schemas.openxmlformats.org/officeDocument/2006/relationships/notesSlide" Target="/ppt/notesSlides/notesSlide9.xml" Id="Rff95af98c19c41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999bc3e044f0d" /><Relationship Type="http://schemas.openxmlformats.org/officeDocument/2006/relationships/chart" Target="/ppt/slides/charts/chart1.xml" Id="Rfdd867c18a3f4cc8" /><Relationship Type="http://schemas.openxmlformats.org/officeDocument/2006/relationships/notesSlide" Target="/ppt/notesSlides/notesSlide10.xml" Id="R5f398d3d9ac64a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b6b35a26f45ef" /><Relationship Type="http://schemas.openxmlformats.org/officeDocument/2006/relationships/chart" Target="/ppt/slides/charts/chart2.xml" Id="R3a7c3c1ec7d04100" /><Relationship Type="http://schemas.openxmlformats.org/officeDocument/2006/relationships/notesSlide" Target="/ppt/notesSlides/notesSlide11.xml" Id="R1375b3afc79c4f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33eb4b2914b45" /><Relationship Type="http://schemas.openxmlformats.org/officeDocument/2006/relationships/chart" Target="/ppt/slides/charts/chart3.xml" Id="R44785902c616493c" /><Relationship Type="http://schemas.openxmlformats.org/officeDocument/2006/relationships/notesSlide" Target="/ppt/notesSlides/notesSlide12.xml" Id="Rfb9941a40bb448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855dc80914328" /><Relationship Type="http://schemas.openxmlformats.org/officeDocument/2006/relationships/chart" Target="/ppt/slides/charts/chart4.xml" Id="R584535902e734e64" /><Relationship Type="http://schemas.openxmlformats.org/officeDocument/2006/relationships/notesSlide" Target="/ppt/notesSlides/notesSlide13.xml" Id="Rb71c7a79880947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69d4f5a264008" /><Relationship Type="http://schemas.openxmlformats.org/officeDocument/2006/relationships/chart" Target="/ppt/slides/charts/chart5.xml" Id="Rc6d6e7df3dd84a31" /><Relationship Type="http://schemas.openxmlformats.org/officeDocument/2006/relationships/notesSlide" Target="/ppt/notesSlides/notesSlide14.xml" Id="Rfd00a2617ef048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3205a5244441c" /><Relationship Type="http://schemas.openxmlformats.org/officeDocument/2006/relationships/notesSlide" Target="/ppt/notesSlides/notesSlide15.xml" Id="Reeba29a1270d48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90febfd164154" /><Relationship Type="http://schemas.openxmlformats.org/officeDocument/2006/relationships/chart" Target="/ppt/slides/charts/chart6.xml" Id="Rb2de7ca234ca4345" /><Relationship Type="http://schemas.openxmlformats.org/officeDocument/2006/relationships/notesSlide" Target="/ppt/notesSlides/notesSlide16.xml" Id="R9af6504a1d4440b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reference</c:v>
          </c:tx>
          <c:spPr>
            <a:solidFill xmlns:a="http://schemas.openxmlformats.org/drawingml/2006/main">
              <a:srgbClr val="0070C0"/>
            </a:solidFill>
            <a:ln xmlns:a="http://schemas.openxmlformats.org/drawingml/2006/main" w="15240">
              <a:solidFill>
                <a:srgbClr val="0070C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70C0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Data'!$B$2:$B$7</c:f>
              <c:numCache>
                <c:formatCode>0.###</c:formatCode>
                <c:ptCount val="6"/>
                <c:pt idx="0">
                  <c:v>46.193516666667</c:v>
                </c:pt>
                <c:pt idx="1">
                  <c:v>46.407084333333</c:v>
                </c:pt>
                <c:pt idx="2">
                  <c:v>46.206193</c:v>
                </c:pt>
                <c:pt idx="3">
                  <c:v>46.267376666667</c:v>
                </c:pt>
                <c:pt idx="4">
                  <c:v>46.261239666667</c:v>
                </c:pt>
                <c:pt idx="5">
                  <c:v>46.077669666667</c:v>
                </c:pt>
              </c:numCache>
            </c:numRef>
          </c:val>
          <c:smooth val="0"/>
        </c:ser>
        <c:ser>
          <c:idx val="1"/>
          <c:order val="1"/>
          <c:tx>
            <c:v>hardened</c:v>
          </c:tx>
          <c:spPr>
            <a:solidFill xmlns:a="http://schemas.openxmlformats.org/drawingml/2006/main">
              <a:srgbClr val="E34C46"/>
            </a:solidFill>
            <a:ln xmlns:a="http://schemas.openxmlformats.org/drawingml/2006/main" w="15240">
              <a:solidFill>
                <a:srgbClr val="E34C46"/>
              </a:solidFill>
              <a:prstDash val="dash"/>
            </a:ln>
          </c:spPr>
          <c:marker>
            <c:symbol val="square"/>
            <c:size val="7"/>
            <c:spPr>
              <a:solidFill xmlns:a="http://schemas.openxmlformats.org/drawingml/2006/main">
                <a:srgbClr val="E34C46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Data'!$D$2:$D$7</c:f>
              <c:numCache>
                <c:formatCode>0.###</c:formatCode>
                <c:ptCount val="6"/>
                <c:pt idx="0">
                  <c:v>46.148423</c:v>
                </c:pt>
                <c:pt idx="1">
                  <c:v>46.383034</c:v>
                </c:pt>
                <c:pt idx="2">
                  <c:v>46.350749</c:v>
                </c:pt>
                <c:pt idx="3">
                  <c:v>46.480338</c:v>
                </c:pt>
                <c:pt idx="4">
                  <c:v>46.401231</c:v>
                </c:pt>
                <c:pt idx="5">
                  <c:v>46.261061</c:v>
                </c:pt>
              </c:numCache>
            </c:numRef>
          </c:val>
          <c:smooth val="0"/>
        </c:ser>
        <c:ser>
          <c:idx val="2"/>
          <c:order val="2"/>
          <c:tx>
            <c:v>deployable</c:v>
          </c:tx>
          <c:spPr>
            <a:solidFill xmlns:a="http://schemas.openxmlformats.org/drawingml/2006/main">
              <a:srgbClr val="00A96B"/>
            </a:solidFill>
            <a:ln xmlns:a="http://schemas.openxmlformats.org/drawingml/2006/main" w="15240">
              <a:solidFill>
                <a:srgbClr val="00A96B"/>
              </a:solidFill>
              <a:prstDash val="dot"/>
            </a:ln>
          </c:spPr>
          <c:marker>
            <c:symbol val="triangle"/>
            <c:size val="7"/>
            <c:spPr>
              <a:solidFill xmlns:a="http://schemas.openxmlformats.org/drawingml/2006/main">
                <a:srgbClr val="00A96B"/>
              </a:solidFill>
            </c:spPr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Data'!$F$2:$F$7</c:f>
              <c:numCache>
                <c:formatCode>0.###</c:formatCode>
                <c:ptCount val="6"/>
                <c:pt idx="0">
                  <c:v>45.925622666667</c:v>
                </c:pt>
                <c:pt idx="1">
                  <c:v>46.102585</c:v>
                </c:pt>
                <c:pt idx="2">
                  <c:v>46.209969</c:v>
                </c:pt>
                <c:pt idx="3">
                  <c:v>46.621075</c:v>
                </c:pt>
                <c:pt idx="4">
                  <c:v>46.241867</c:v>
                </c:pt>
                <c:pt idx="5">
                  <c:v>46.131357333333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SimSun"/>
                  <a:cs typeface="SimSu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Times New Roman"/>
                <a:ea typeface="SimSun"/>
                <a:cs typeface="SimSun"/>
              </a:defRPr>
            </a:pPr>
          </a:p>
        </c:txPr>
        <c:crossAx val="48672768"/>
      </c:catAx>
      <c:valAx>
        <c:axId val="48672768"/>
        <c:scaling>
          <c:orientation val="minMax"/>
          <c:max val="47"/>
          <c:min val="4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1D1D1"/>
              </a:solidFill>
            </a:ln>
          </c:spPr>
        </c:majorGridlines>
        <c:numFmt formatCode="0.###"/>
        <c:majorTickMark val="none"/>
        <c:minorTickMark val="none"/>
        <c:spPr>
          <a:ln xmlns:a="http://schemas.openxmlformats.org/drawingml/2006/main" w="9525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Times New Roman"/>
                <a:ea typeface="SimSun"/>
                <a:cs typeface="SimSu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6668">
          <a:solidFill>
            <a:srgbClr val="000000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Times New Roman"/>
              <a:ea typeface="SimSun"/>
              <a:cs typeface="SimSu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reference</c:v>
          </c:tx>
          <c:spPr>
            <a:solidFill xmlns:a="http://schemas.openxmlformats.org/drawingml/2006/main">
              <a:srgbClr val="0070C0"/>
            </a:solidFill>
            <a:ln xmlns:a="http://schemas.openxmlformats.org/drawingml/2006/main" w="15240">
              <a:solidFill>
                <a:srgbClr val="0070C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70C0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Data'!$B$2:$B$7</c:f>
              <c:numCache>
                <c:formatCode>0.###</c:formatCode>
                <c:ptCount val="6"/>
                <c:pt idx="0">
                  <c:v>47.704085</c:v>
                </c:pt>
                <c:pt idx="1">
                  <c:v>45.867609</c:v>
                </c:pt>
                <c:pt idx="2">
                  <c:v>45.924342333333</c:v>
                </c:pt>
                <c:pt idx="3">
                  <c:v>45.947020666667</c:v>
                </c:pt>
                <c:pt idx="4">
                  <c:v>45.858293666667</c:v>
                </c:pt>
                <c:pt idx="5">
                  <c:v>45.780104666667</c:v>
                </c:pt>
              </c:numCache>
            </c:numRef>
          </c:val>
          <c:smooth val="0"/>
        </c:ser>
        <c:ser>
          <c:idx val="1"/>
          <c:order val="1"/>
          <c:tx>
            <c:v>hardened</c:v>
          </c:tx>
          <c:spPr>
            <a:solidFill xmlns:a="http://schemas.openxmlformats.org/drawingml/2006/main">
              <a:srgbClr val="E34C46"/>
            </a:solidFill>
            <a:ln xmlns:a="http://schemas.openxmlformats.org/drawingml/2006/main" w="15240">
              <a:solidFill>
                <a:srgbClr val="E34C46"/>
              </a:solidFill>
              <a:prstDash val="dash"/>
            </a:ln>
          </c:spPr>
          <c:marker>
            <c:symbol val="square"/>
            <c:size val="7"/>
            <c:spPr>
              <a:solidFill xmlns:a="http://schemas.openxmlformats.org/drawingml/2006/main">
                <a:srgbClr val="E34C46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Data'!$D$2:$D$7</c:f>
              <c:numCache>
                <c:formatCode>0.###</c:formatCode>
                <c:ptCount val="6"/>
                <c:pt idx="0">
                  <c:v>46.282000666667</c:v>
                </c:pt>
                <c:pt idx="1">
                  <c:v>45.97646</c:v>
                </c:pt>
                <c:pt idx="2">
                  <c:v>45.945980666667</c:v>
                </c:pt>
                <c:pt idx="3">
                  <c:v>46.997459333333</c:v>
                </c:pt>
                <c:pt idx="4">
                  <c:v>48.081456666667</c:v>
                </c:pt>
                <c:pt idx="5">
                  <c:v>46.082908333333</c:v>
                </c:pt>
              </c:numCache>
            </c:numRef>
          </c:val>
          <c:smooth val="0"/>
        </c:ser>
        <c:ser>
          <c:idx val="2"/>
          <c:order val="2"/>
          <c:tx>
            <c:v>deployable</c:v>
          </c:tx>
          <c:spPr>
            <a:solidFill xmlns:a="http://schemas.openxmlformats.org/drawingml/2006/main">
              <a:srgbClr val="00A96B"/>
            </a:solidFill>
            <a:ln xmlns:a="http://schemas.openxmlformats.org/drawingml/2006/main" w="15240">
              <a:solidFill>
                <a:srgbClr val="00A96B"/>
              </a:solidFill>
              <a:prstDash val="dot"/>
            </a:ln>
          </c:spPr>
          <c:marker>
            <c:symbol val="triangle"/>
            <c:size val="7"/>
            <c:spPr>
              <a:solidFill xmlns:a="http://schemas.openxmlformats.org/drawingml/2006/main">
                <a:srgbClr val="00A96B"/>
              </a:solidFill>
            </c:spPr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Data'!$F$2:$F$7</c:f>
              <c:numCache>
                <c:formatCode>0.###</c:formatCode>
                <c:ptCount val="6"/>
                <c:pt idx="0">
                  <c:v>46.026303333333</c:v>
                </c:pt>
                <c:pt idx="1">
                  <c:v>47.648234</c:v>
                </c:pt>
                <c:pt idx="2">
                  <c:v>45.894605666667</c:v>
                </c:pt>
                <c:pt idx="3">
                  <c:v>46.454062333333</c:v>
                </c:pt>
                <c:pt idx="4">
                  <c:v>46.112910666667</c:v>
                </c:pt>
                <c:pt idx="5">
                  <c:v>47.969731666667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SimSun"/>
                  <a:cs typeface="SimSu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Times New Roman"/>
                <a:ea typeface="SimSun"/>
                <a:cs typeface="SimSun"/>
              </a:defRPr>
            </a:pPr>
          </a:p>
        </c:txPr>
        <c:crossAx val="48672768"/>
      </c:catAx>
      <c:valAx>
        <c:axId val="48672768"/>
        <c:scaling>
          <c:orientation val="minMax"/>
          <c:max val="49"/>
          <c:min val="4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1D1D1"/>
              </a:solidFill>
            </a:ln>
          </c:spPr>
        </c:majorGridlines>
        <c:numFmt formatCode="0.###"/>
        <c:majorTickMark val="none"/>
        <c:minorTickMark val="none"/>
        <c:spPr>
          <a:ln xmlns:a="http://schemas.openxmlformats.org/drawingml/2006/main" w="9525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Times New Roman"/>
                <a:ea typeface="SimSun"/>
                <a:cs typeface="SimSu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6668">
          <a:solidFill>
            <a:srgbClr val="000000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Times New Roman"/>
              <a:ea typeface="SimSun"/>
              <a:cs typeface="SimSu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SciPy</c:v>
          </c:tx>
          <c:spPr>
            <a:solidFill xmlns:a="http://schemas.openxmlformats.org/drawingml/2006/main">
              <a:srgbClr val="0070C0"/>
            </a:solidFill>
          </c:spPr>
          <c:cat>
            <c:strRef>
              <c:f>'Chart Data'!$A$2:$A$3</c:f>
              <c:strCache>
                <c:ptCount val="2"/>
                <c:pt idx="0">
                  <c:v>完整进程</c:v>
                </c:pt>
                <c:pt idx="1">
                  <c:v>SciPy 预导入</c:v>
                </c:pt>
              </c:strCache>
            </c:strRef>
          </c:cat>
          <c:val>
            <c:numRef>
              <c:f>'Chart Data'!$B$2:$B$3</c:f>
              <c:numCache>
                <c:formatCode>0.###</c:formatCode>
                <c:ptCount val="2"/>
                <c:pt idx="0">
                  <c:v>56.401718</c:v>
                </c:pt>
                <c:pt idx="1">
                  <c:v>49.704188</c:v>
                </c:pt>
              </c:numCache>
            </c:numRef>
          </c:val>
        </c:ser>
        <c:ser>
          <c:idx val="1"/>
          <c:order val="1"/>
          <c:tx>
            <c:v>C11</c:v>
          </c:tx>
          <c:spPr>
            <a:solidFill xmlns:a="http://schemas.openxmlformats.org/drawingml/2006/main">
              <a:srgbClr val="00A96B"/>
            </a:solidFill>
          </c:spPr>
          <c:cat>
            <c:strRef>
              <c:f>'Chart Data'!$C$2:$C$3</c:f>
              <c:strCache>
                <c:ptCount val="2"/>
                <c:pt idx="0">
                  <c:v>完整进程</c:v>
                </c:pt>
                <c:pt idx="1">
                  <c:v>SciPy 预导入</c:v>
                </c:pt>
              </c:strCache>
            </c:strRef>
          </c:cat>
          <c:val>
            <c:numRef>
              <c:f>'Chart Data'!$D$2:$D$3</c:f>
              <c:numCache>
                <c:formatCode>0.###</c:formatCode>
                <c:ptCount val="2"/>
                <c:pt idx="0">
                  <c:v>0.080189</c:v>
                </c:pt>
                <c:pt idx="1">
                  <c:v>0.079016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SimSun"/>
                  <a:cs typeface="SimSu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Times New Roman"/>
                <a:ea typeface="SimSun"/>
                <a:cs typeface="SimSun"/>
              </a:defRPr>
            </a:pPr>
          </a:p>
        </c:txPr>
        <c:crossAx val="48672768"/>
      </c:catAx>
      <c:valAx>
        <c:axId val="48672768"/>
        <c:scaling>
          <c:logBase val="10"/>
          <c:orientation val="minMax"/>
          <c:max val="100"/>
          <c:min val="0.01"/>
        </c:scaling>
        <c:delete val="0"/>
        <c:axPos val="l"/>
        <c:majorGridlines>
          <c:spPr>
            <a:ln xmlns:a="http://schemas.openxmlformats.org/drawingml/2006/main" w="5715">
              <a:solidFill>
                <a:srgbClr val="D1D1D1"/>
              </a:solidFill>
            </a:ln>
          </c:spPr>
        </c:majorGridlines>
        <c:numFmt formatCode="0.###"/>
        <c:majorTickMark val="none"/>
        <c:minorTickMark val="none"/>
        <c:spPr>
          <a:ln xmlns:a="http://schemas.openxmlformats.org/drawingml/2006/main" w="9525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Times New Roman"/>
                <a:ea typeface="SimSun"/>
                <a:cs typeface="SimSu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6668">
          <a:solidFill>
            <a:srgbClr val="000000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Times New Roman"/>
              <a:ea typeface="SimSun"/>
              <a:cs typeface="SimSu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equal</c:v>
          </c:tx>
          <c:spPr>
            <a:solidFill xmlns:a="http://schemas.openxmlformats.org/drawingml/2006/main">
              <a:srgbClr val="0070C0"/>
            </a:solidFill>
            <a:ln xmlns:a="http://schemas.openxmlformats.org/drawingml/2006/main" w="15240">
              <a:solidFill>
                <a:srgbClr val="0070C0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0070C0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12</c:v>
                </c:pt>
              </c:numCache>
            </c:numRef>
          </c:cat>
          <c:val>
            <c:numRef>
              <c:f>'Chart Data'!$B$2:$B$6</c:f>
              <c:numCache>
                <c:formatCode>0.###</c:formatCode>
                <c:ptCount val="5"/>
                <c:pt idx="0">
                  <c:v>0.00634765625</c:v>
                </c:pt>
                <c:pt idx="1">
                  <c:v>0.19384765625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v>graded</c:v>
          </c:tx>
          <c:spPr>
            <a:solidFill xmlns:a="http://schemas.openxmlformats.org/drawingml/2006/main">
              <a:srgbClr val="E34C46"/>
            </a:solidFill>
            <a:ln xmlns:a="http://schemas.openxmlformats.org/drawingml/2006/main" w="15240">
              <a:solidFill>
                <a:srgbClr val="E34C46"/>
              </a:solidFill>
              <a:prstDash val="dash"/>
            </a:ln>
          </c:spPr>
          <c:marker>
            <c:symbol val="square"/>
            <c:size val="7"/>
            <c:spPr>
              <a:solidFill xmlns:a="http://schemas.openxmlformats.org/drawingml/2006/main">
                <a:srgbClr val="E34C46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12</c:v>
                </c:pt>
              </c:numCache>
            </c:numRef>
          </c:cat>
          <c:val>
            <c:numRef>
              <c:f>'Chart Data'!$D$2:$D$6</c:f>
              <c:numCache>
                <c:formatCode>0.###</c:formatCode>
                <c:ptCount val="5"/>
                <c:pt idx="0">
                  <c:v>0.00927734375</c:v>
                </c:pt>
                <c:pt idx="1">
                  <c:v>0.01171875</c:v>
                </c:pt>
                <c:pt idx="2">
                  <c:v>0.022216796875</c:v>
                </c:pt>
                <c:pt idx="3">
                  <c:v>0.086181640625</c:v>
                </c:pt>
                <c:pt idx="4">
                  <c:v>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SimSun"/>
                  <a:cs typeface="SimSu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Times New Roman"/>
                <a:ea typeface="SimSun"/>
                <a:cs typeface="SimSun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1D1D1"/>
              </a:solidFill>
            </a:ln>
          </c:spPr>
        </c:majorGridlines>
        <c:numFmt formatCode="0.###"/>
        <c:majorTickMark val="none"/>
        <c:minorTickMark val="none"/>
        <c:spPr>
          <a:ln xmlns:a="http://schemas.openxmlformats.org/drawingml/2006/main" w="9525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Times New Roman"/>
                <a:ea typeface="SimSun"/>
                <a:cs typeface="SimSu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6668">
          <a:solidFill>
            <a:srgbClr val="000000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Times New Roman"/>
              <a:ea typeface="SimSun"/>
              <a:cs typeface="SimSu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条件拒绝数</c:v>
          </c:tx>
          <c:spPr>
            <a:solidFill xmlns:a="http://schemas.openxmlformats.org/drawingml/2006/main">
              <a:srgbClr val="0070C0"/>
            </a:solidFill>
          </c:spPr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Data'!$B$2:$B$7</c:f>
              <c:numCache>
                <c:formatCode>0.###</c:formatCode>
                <c:ptCount val="6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38</c:v>
                </c:pt>
                <c:pt idx="4">
                  <c:v>40</c:v>
                </c:pt>
                <c:pt idx="5">
                  <c:v>38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SimSun"/>
                  <a:cs typeface="SimSu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Times New Roman"/>
                <a:ea typeface="SimSun"/>
                <a:cs typeface="SimSun"/>
              </a:defRPr>
            </a:pPr>
          </a:p>
        </c:txPr>
        <c:crossAx val="48672768"/>
      </c:catAx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1D1D1"/>
              </a:solidFill>
            </a:ln>
          </c:spPr>
        </c:majorGridlines>
        <c:numFmt formatCode="0.###"/>
        <c:majorTickMark val="none"/>
        <c:minorTickMark val="none"/>
        <c:spPr>
          <a:ln xmlns:a="http://schemas.openxmlformats.org/drawingml/2006/main" w="9525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Times New Roman"/>
                <a:ea typeface="SimSun"/>
                <a:cs typeface="SimSu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6668">
          <a:solidFill>
            <a:srgbClr val="000000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reference</c:v>
          </c:tx>
          <c:spPr>
            <a:solidFill xmlns:a="http://schemas.openxmlformats.org/drawingml/2006/main">
              <a:srgbClr val="0070C0"/>
            </a:solidFill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31337</c:v>
                </c:pt>
                <c:pt idx="1">
                  <c:v>90210</c:v>
                </c:pt>
                <c:pt idx="2">
                  <c:v>20261111</c:v>
                </c:pt>
                <c:pt idx="3">
                  <c:v>8675309</c:v>
                </c:pt>
                <c:pt idx="4">
                  <c:v>141421356</c:v>
                </c:pt>
              </c:numCache>
            </c:numRef>
          </c:cat>
          <c:val>
            <c:numRef>
              <c:f>'Chart Data'!$B$2:$B$6</c:f>
              <c:numCache>
                <c:formatCode>0.###</c:formatCode>
                <c:ptCount val="5"/>
                <c:pt idx="0">
                  <c:v>-23.76</c:v>
                </c:pt>
                <c:pt idx="1">
                  <c:v>-12.891</c:v>
                </c:pt>
                <c:pt idx="2">
                  <c:v>15.184</c:v>
                </c:pt>
                <c:pt idx="3">
                  <c:v>13.212</c:v>
                </c:pt>
                <c:pt idx="4">
                  <c:v>-31.964</c:v>
                </c:pt>
              </c:numCache>
            </c:numRef>
          </c:val>
        </c:ser>
        <c:ser>
          <c:idx val="1"/>
          <c:order val="1"/>
          <c:tx>
            <c:v>vulnerable</c:v>
          </c:tx>
          <c:spPr>
            <a:solidFill xmlns:a="http://schemas.openxmlformats.org/drawingml/2006/main">
              <a:srgbClr val="E34C46"/>
            </a:solidFill>
          </c:spPr>
          <c:invertIfNegative val="0"/>
          <c:cat>
            <c:numRef>
              <c:f>'Chart Data'!$C$2:$C$6</c:f>
              <c:numCache>
                <c:formatCode>General</c:formatCode>
                <c:ptCount val="5"/>
                <c:pt idx="0">
                  <c:v>31337</c:v>
                </c:pt>
                <c:pt idx="1">
                  <c:v>90210</c:v>
                </c:pt>
                <c:pt idx="2">
                  <c:v>20261111</c:v>
                </c:pt>
                <c:pt idx="3">
                  <c:v>8675309</c:v>
                </c:pt>
                <c:pt idx="4">
                  <c:v>141421356</c:v>
                </c:pt>
              </c:numCache>
            </c:numRef>
          </c:cat>
          <c:val>
            <c:numRef>
              <c:f>'Chart Data'!$D$2:$D$6</c:f>
              <c:numCache>
                <c:formatCode>0.###</c:formatCode>
                <c:ptCount val="5"/>
                <c:pt idx="0">
                  <c:v>-1322.119</c:v>
                </c:pt>
                <c:pt idx="1">
                  <c:v>-1329.081</c:v>
                </c:pt>
                <c:pt idx="2">
                  <c:v>-1283.025</c:v>
                </c:pt>
                <c:pt idx="3">
                  <c:v>-1296.339</c:v>
                </c:pt>
                <c:pt idx="4">
                  <c:v>-1277.02</c:v>
                </c:pt>
              </c:numCache>
            </c:numRef>
          </c:val>
        </c:ser>
        <c:ser>
          <c:idx val="2"/>
          <c:order val="2"/>
          <c:tx>
            <c:v>hardened</c:v>
          </c:tx>
          <c:spPr>
            <a:solidFill xmlns:a="http://schemas.openxmlformats.org/drawingml/2006/main">
              <a:srgbClr val="00A96B"/>
            </a:solidFill>
          </c:spPr>
          <c:invertIfNegative val="0"/>
          <c:cat>
            <c:numRef>
              <c:f>'Chart Data'!$E$2:$E$6</c:f>
              <c:numCache>
                <c:formatCode>General</c:formatCode>
                <c:ptCount val="5"/>
                <c:pt idx="0">
                  <c:v>31337</c:v>
                </c:pt>
                <c:pt idx="1">
                  <c:v>90210</c:v>
                </c:pt>
                <c:pt idx="2">
                  <c:v>20261111</c:v>
                </c:pt>
                <c:pt idx="3">
                  <c:v>8675309</c:v>
                </c:pt>
                <c:pt idx="4">
                  <c:v>141421356</c:v>
                </c:pt>
              </c:numCache>
            </c:numRef>
          </c:cat>
          <c:val>
            <c:numRef>
              <c:f>'Chart Data'!$F$2:$F$6</c:f>
              <c:numCache>
                <c:formatCode>0.###</c:formatCode>
                <c:ptCount val="5"/>
                <c:pt idx="0">
                  <c:v>0.693</c:v>
                </c:pt>
                <c:pt idx="1">
                  <c:v>20.532</c:v>
                </c:pt>
                <c:pt idx="2">
                  <c:v>-26.042</c:v>
                </c:pt>
                <c:pt idx="3">
                  <c:v>95.723</c:v>
                </c:pt>
                <c:pt idx="4">
                  <c:v>27.345</c:v>
                </c:pt>
              </c:numCache>
            </c:numRef>
          </c:val>
        </c:ser>
        <c:ser>
          <c:idx val="3"/>
          <c:order val="3"/>
          <c:tx>
            <c:v>deployable</c:v>
          </c:tx>
          <c:spPr>
            <a:solidFill xmlns:a="http://schemas.openxmlformats.org/drawingml/2006/main">
              <a:srgbClr val="7F67A5"/>
            </a:solidFill>
          </c:spPr>
          <c:invertIfNegative val="0"/>
          <c:cat>
            <c:numRef>
              <c:f>'Chart Data'!$G$2:$G$6</c:f>
              <c:numCache>
                <c:formatCode>General</c:formatCode>
                <c:ptCount val="5"/>
                <c:pt idx="0">
                  <c:v>31337</c:v>
                </c:pt>
                <c:pt idx="1">
                  <c:v>90210</c:v>
                </c:pt>
                <c:pt idx="2">
                  <c:v>20261111</c:v>
                </c:pt>
                <c:pt idx="3">
                  <c:v>8675309</c:v>
                </c:pt>
                <c:pt idx="4">
                  <c:v>141421356</c:v>
                </c:pt>
              </c:numCache>
            </c:numRef>
          </c:cat>
          <c:val>
            <c:numRef>
              <c:f>'Chart Data'!$H$2:$H$6</c:f>
              <c:numCache>
                <c:formatCode>0.###</c:formatCode>
                <c:ptCount val="5"/>
                <c:pt idx="0">
                  <c:v>15.051</c:v>
                </c:pt>
                <c:pt idx="1">
                  <c:v>29.601</c:v>
                </c:pt>
                <c:pt idx="2">
                  <c:v>-25.086</c:v>
                </c:pt>
                <c:pt idx="3">
                  <c:v>-8.106</c:v>
                </c:pt>
                <c:pt idx="4">
                  <c:v>-3.191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SimSun"/>
                  <a:cs typeface="SimSu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Times New Roman"/>
                <a:ea typeface="SimSun"/>
                <a:cs typeface="SimSun"/>
              </a:defRPr>
            </a:pPr>
          </a:p>
        </c:txPr>
        <c:crossAx val="48672768"/>
        <c:tickLblPos val="low"/>
      </c:catAx>
      <c:valAx>
        <c:axId val="48672768"/>
        <c:scaling>
          <c:orientation val="minMax"/>
          <c:max val="250"/>
          <c:min val="-150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1D1D1"/>
              </a:solidFill>
            </a:ln>
          </c:spPr>
        </c:majorGridlines>
        <c:numFmt formatCode="0.###"/>
        <c:majorTickMark val="none"/>
        <c:minorTickMark val="none"/>
        <c:spPr>
          <a:ln xmlns:a="http://schemas.openxmlformats.org/drawingml/2006/main" w="9525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Times New Roman"/>
                <a:ea typeface="SimSun"/>
                <a:cs typeface="SimSun"/>
              </a:defRPr>
            </a:pPr>
          </a:p>
        </c:txPr>
        <c:crossAx val="48650112"/>
        <c:crossBetween val="between"/>
        <c:majorUnit val="250"/>
      </c:valAx>
      <c:spPr>
        <a:solidFill xmlns:a="http://schemas.openxmlformats.org/drawingml/2006/main">
          <a:srgbClr val="FFFFFF"/>
        </a:solidFill>
        <a:ln xmlns:a="http://schemas.openxmlformats.org/drawingml/2006/main" w="6668">
          <a:solidFill>
            <a:srgbClr val="000000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Times New Roman"/>
              <a:ea typeface="SimSun"/>
              <a:cs typeface="SimSu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5913E-65AC-4972-80DE-CA6FF821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ML-KEM 本地审计系统总体架构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483D2-A1B5-442A-B54E-D9345464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524000"/>
            <a:ext cx="1285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用户入口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7CA8F-D2BF-48CB-B45F-48576BB4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62000"/>
            <a:ext cx="2524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功能验收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独立向量 · 接口检查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F69FB-C7E3-4024-80FB-BD2BDC70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76500"/>
            <a:ext cx="2524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普通记录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完整解封装 · 原序保存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123DA-DD9A-4BD3-8B33-12C4D555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62000"/>
            <a:ext cx="3238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B3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条件分析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资格校验 · 精确复算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94D62-982D-48EB-95B1-63DCCFF4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3238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6F5E6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离线交付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报告 · 图表 · 来源清单</a:t>
            </a:r>
          </a:p>
        </p:txBody>
      </p:sp>
      <p:cxnSp>
        <p:nvCxnSpPr>
          <p:cNvPr id="19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V="1">
            <a:off x="1524000" y="1238250"/>
            <a:ext cx="42862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524000" y="2000250"/>
            <a:ext cx="428625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476750" y="1238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4476750" y="1238250"/>
            <a:ext cx="571500" cy="1714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667500" y="17145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F0AF5-6F05-4243-A65E-4108C320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历史档案与实时普通记录分别进入对应分析流程</a:t>
            </a:r>
          </a:p>
        </p:txBody>
      </p:sp>
    </p:spTree>
    <p:extLst>
      <p:ext uri="{BB962C8B-B14F-4D97-AF65-F5344CB8AC3E}">
        <p14:creationId xmlns:p14="http://schemas.microsoft.com/office/powerpoint/2010/main" val="19268468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E53FD-4C7D-4270-9D57-B38CA1A8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密钥封装机制的功能关系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C0360-1BC9-41C4-B2DD-A4C3AB68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953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密钥生成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KeyGen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A4F64-21EE-4141-AA59-374ECBF2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953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0B3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封装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Encaps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A26AD-E593-40FB-A529-0FA4C7ED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953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6F5E6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解封装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Decaps</a:t>
            </a:r>
          </a:p>
        </p:txBody>
      </p:sp>
      <p:cxnSp>
        <p:nvCxnSpPr>
          <p:cNvPr id="17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381250" y="1524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334000" y="1524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8641B-19A3-4CDE-A2C9-1A784F87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143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425" b="0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封装密钥 ek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9BFF1-EAE9-4857-A6E4-AC67342B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143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密文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ED2B8-A64A-4842-AB8A-5971C7D2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62250"/>
            <a:ext cx="228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解封装密钥 dk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由接收方保存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05331-A76D-4B25-B8B3-F5BF9AE4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62250"/>
            <a:ext cx="228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B3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共享密钥 K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由发送方获得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63000-69B1-4440-87D1-901E2ADA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62250"/>
            <a:ext cx="228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6F5E6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共享密钥 K′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有效输入时 K′ = 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0CABF-0B1A-4075-A402-293815AD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38575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图中只展示接口与结果关系；不展示真实密钥材料</a:t>
            </a:r>
          </a:p>
        </p:txBody>
      </p:sp>
    </p:spTree>
    <p:extLst>
      <p:ext uri="{BB962C8B-B14F-4D97-AF65-F5344CB8AC3E}">
        <p14:creationId xmlns:p14="http://schemas.microsoft.com/office/powerpoint/2010/main" val="4563794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3172A-E358-4179-8ACC-4E139BF4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输入与错误处理边界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47AF1-A348-481F-952E-D078E16B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09625"/>
            <a:ext cx="2286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外部调用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指针与长度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9D735-CDAC-4F4B-88F6-06B564AB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9625"/>
            <a:ext cx="2286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0B3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封装层校验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A8E1F-2428-4E66-BA4C-20A3FD6E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809625"/>
            <a:ext cx="2286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6F5E6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固定长度内核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完整解封装</a:t>
            </a:r>
          </a:p>
        </p:txBody>
      </p:sp>
      <p:cxnSp>
        <p:nvCxnSpPr>
          <p:cNvPr id="14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619375" y="116681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1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429250" y="116681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E0BA0-E60D-452A-BFC1-FF437925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524125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0B3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长度不符 / 空指针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进入内核前返回错误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DCAD0-CCC6-40B4-B9D7-8E788635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4125"/>
            <a:ext cx="285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6F5E6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长度正确的无效密文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保留隐式拒绝语义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039B7-2AA0-48F2-9890-00634A4E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调用状态不额外暴露内部密文验证结果</a:t>
            </a:r>
          </a:p>
        </p:txBody>
      </p:sp>
    </p:spTree>
    <p:extLst>
      <p:ext uri="{BB962C8B-B14F-4D97-AF65-F5344CB8AC3E}">
        <p14:creationId xmlns:p14="http://schemas.microsoft.com/office/powerpoint/2010/main" val="19739356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8B933-C3E1-4C1E-AD7B-CFCE4BE0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完整解封装的计时窗口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FFB02-9E2B-41FF-A220-3E985A4B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238250"/>
            <a:ext cx="1905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输入准备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分配与预热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173C6-D4C4-45B7-8780-746FD111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047750"/>
            <a:ext cx="2571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0B3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开始读钟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完整解封装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结束读钟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0404A-A52E-45FF-928B-B3DCD30A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38250"/>
            <a:ext cx="1905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6F5E6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结果消费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日志与文件输出</a:t>
            </a:r>
          </a:p>
        </p:txBody>
      </p:sp>
      <p:cxnSp>
        <p:nvCxnSpPr>
          <p:cNvPr id="15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143125" y="17859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572125" y="17859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A5A25-9321-48BC-A43F-31016E7A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700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计时窗口外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5FBC6-21CA-4C72-BD8E-9F794B67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800" b="1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保存每次原始时间差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68B02-BB59-406B-8B93-567B59EF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计时窗口外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789D3-B391-4201-B988-C7D2D1DA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CLOCK_MONOTONIC，单位 ns；普通长尾保留，读钟开销不直接扣除</a:t>
            </a:r>
          </a:p>
        </p:txBody>
      </p:sp>
    </p:spTree>
    <p:extLst>
      <p:ext uri="{BB962C8B-B14F-4D97-AF65-F5344CB8AC3E}">
        <p14:creationId xmlns:p14="http://schemas.microsoft.com/office/powerpoint/2010/main" val="1385173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77D69-F143-486E-9A3D-3B6AE0A3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一次运行的记录与来源关联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A4408-E892-4979-823F-3DC8F12E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572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逐次数据 CSV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类别 / 序号 / 时间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FBA27-C919-4937-A440-5A185ABF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8572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0B3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元数据 META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源码 / 产物 / 时钟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A4135-E2E1-4F9F-A885-CFD5B4F4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572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6F5E6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成本记录 COST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预热 / 正式 / 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A12C2-B665-448D-BE8A-5B674058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4953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联合校验身份、计数及完成状态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生成可追溯的分析报告</a:t>
            </a:r>
          </a:p>
        </p:txBody>
      </p:sp>
      <p:cxnSp>
        <p:nvCxnSpPr>
          <p:cNvPr id="14" name=""/>
          <p:cNvCxnSpPr>
            <a:stCxn xmlns:a="http://schemas.openxmlformats.org/drawingml/2006/main" id="2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476375" y="1952625"/>
            <a:ext cx="280987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15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4286250" y="195262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4286250" y="1952625"/>
            <a:ext cx="280987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926238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8C5E5-9EF3-4AE4-8856-F21EC7E8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数据资格与统计结论的处理流程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FF3AA-026A-4CA1-8EF4-F100D038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000125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读取记录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核验完整性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9D9E9-9BE6-420E-9097-A309D309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000125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核对计划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调用与成本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E469C-2727-4E40-91A9-384DA30B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000125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B3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确认分析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适用条件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2F809-56DD-4DD7-952B-10CCE575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000125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6F5E6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输出结果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及解释范围</a:t>
            </a:r>
          </a:p>
        </p:txBody>
      </p:sp>
      <p:cxnSp>
        <p:nvCxnSpPr>
          <p:cNvPr id="17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1762125" y="1476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952875" y="1476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143625" y="1476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6F126-4A0A-47F1-8995-3DAE5554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7622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0B3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结构或身份矛盾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拒绝完整状态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A578B-F5C4-4496-9844-59C19CB8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27622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0B3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随机化依据不足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报告证据不足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9AA73-9B5B-4C15-AAA6-217DAE29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781425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软件检查可以发现记录矛盾，不能自动证明真实运行独立</a:t>
            </a:r>
          </a:p>
        </p:txBody>
      </p:sp>
    </p:spTree>
    <p:extLst>
      <p:ext uri="{BB962C8B-B14F-4D97-AF65-F5344CB8AC3E}">
        <p14:creationId xmlns:p14="http://schemas.microsoft.com/office/powerpoint/2010/main" val="17318955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1D72C3-1D0D-45D2-92A7-E847664B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成对数据的精确复算原理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EB60B-77C2-49D2-ABE0-C668791C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14375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第 1 对时间差 d₁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A324A-D076-4309-8896-99A84940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14375"/>
            <a:ext cx="22383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0B3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保持或交换标签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符号 +1 / −1</a:t>
            </a:r>
          </a:p>
        </p:txBody>
      </p:sp>
      <p:cxnSp>
        <p:nvCxnSpPr>
          <p:cNvPr id="21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524125" y="10477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8F329-988C-4C99-91AB-5E083C2E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714500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第 2 对时间差 d₂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7486D-3496-4067-B2AB-19AAA00E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22383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0B3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保持或交换标签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符号 +1 / −1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24125" y="20478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6044C-1F4B-48E4-B478-A221E723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14625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第 m 对时间差 dₘ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86E1C-7D85-484A-88B9-E956BF41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4625"/>
            <a:ext cx="22383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0B3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保持或交换标签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符号 +1 / −1</a:t>
            </a:r>
          </a:p>
        </p:txBody>
      </p: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24125" y="30480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C2256-D627-474A-83B0-27342B73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DEC9B-E0A1-4CC9-A714-776752A9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AB892-F893-428A-BB6E-B1BA4E66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2190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D6F5E6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枚举全部 2ᵐ 种状态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计算 |Σ εₖdₖ|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统计大于等于观测值的次数</a:t>
            </a:r>
          </a:p>
        </p:txBody>
      </p:sp>
      <p:cxnSp>
        <p:nvCxnSpPr>
          <p:cNvPr id="31" name=""/>
          <p:cNvCxnSpPr>
            <a:stCxn xmlns:a="http://schemas.openxmlformats.org/drawingml/2006/main" id="3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476875" y="1047750"/>
            <a:ext cx="666750" cy="11191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476875" y="2047875"/>
            <a:ext cx="666750" cy="119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5476875" y="2166938"/>
            <a:ext cx="666750" cy="881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51F26-D948-4760-896D-A2958E36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8290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完整分母、上尾含等值、整数计数；m 限定为 4 至 20</a:t>
            </a:r>
          </a:p>
        </p:txBody>
      </p:sp>
    </p:spTree>
    <p:extLst>
      <p:ext uri="{BB962C8B-B14F-4D97-AF65-F5344CB8AC3E}">
        <p14:creationId xmlns:p14="http://schemas.microsoft.com/office/powerpoint/2010/main" val="1581085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63F67-69CC-4BDC-90CE-7154FBD3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历史案例与当前验证的证据范围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9D408-0652-420C-9BA9-9B5AE175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2476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历史 ARM64 档案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人工机制回归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按原规则重分析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B7127-E5D2-4D53-924B-59AF49D6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0"/>
            <a:ext cx="2476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0B3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Linux 普通与同机复测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功能性能与既定检验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各类记录分别解释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79F09-97DF-4026-B253-C10F1108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52500"/>
            <a:ext cx="2476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6F5E6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无秘密统计任务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计数正确性与成本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固定模型与后赋标签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6AD61-14AF-40E5-8702-ED8A879A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6953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共同要求：说明对象、平台、样本单位、分析条件及来源</a:t>
            </a:r>
          </a:p>
        </p:txBody>
      </p:sp>
    </p:spTree>
    <p:extLst>
      <p:ext uri="{BB962C8B-B14F-4D97-AF65-F5344CB8AC3E}">
        <p14:creationId xmlns:p14="http://schemas.microsoft.com/office/powerpoint/2010/main" val="12497408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95865-9E95-46AC-8FCB-A5864471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测试与复算的分层结构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4546A-7AC3-4D85-A09D-5822534F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"/>
            <a:ext cx="21907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独立功能检查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49C12-1808-4A8A-96B0-3A378DD9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19125"/>
            <a:ext cx="50482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公开 KAT · 接口边界 · 随机源错误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32957-82BC-4769-BBCD-2B126194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57325"/>
            <a:ext cx="21907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0B3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软件行为检查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42B98-092D-4121-B73E-877DCFE1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457325"/>
            <a:ext cx="50482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记录校验 · 失败传播 · 构建身份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FBC70-1D5A-4E92-B0C8-FF8C1CA6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295525"/>
            <a:ext cx="21907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D6F5E6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统计实现检查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C2731-FD34-4AE2-8867-AACC67F2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95525"/>
            <a:ext cx="50482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手算边界 · 独立计数 · 对照工具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94E38-4729-4EBD-8042-F6D2A521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33725"/>
            <a:ext cx="21907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7E7E7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材料复算检查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72343-2F65-4978-8D2D-C740BD7E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33725"/>
            <a:ext cx="50482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原始文件 · 清单摘要 · 报告一致</a:t>
            </a:r>
          </a:p>
        </p:txBody>
      </p:sp>
    </p:spTree>
    <p:extLst>
      <p:ext uri="{BB962C8B-B14F-4D97-AF65-F5344CB8AC3E}">
        <p14:creationId xmlns:p14="http://schemas.microsoft.com/office/powerpoint/2010/main" val="12700124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785A9-6BAA-47A8-9D32-1236B1BF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E02：六个运行块的普通解封装均值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CE036-2A21-4A62-94B0-005D431F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762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运行均值 / μs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238125" y="800100"/>
          <a:ext xmlns:a="http://schemas.openxmlformats.org/drawingml/2006/main" cx="8096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d867c18a3f4cc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070EC-9B79-4E5F-ABF8-75FF4091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8576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横轴为运行块；纵轴起点 45 μs；普通性能不用于判定防护效果</a:t>
            </a:r>
          </a:p>
        </p:txBody>
      </p:sp>
    </p:spTree>
    <p:extLst>
      <p:ext uri="{BB962C8B-B14F-4D97-AF65-F5344CB8AC3E}">
        <p14:creationId xmlns:p14="http://schemas.microsoft.com/office/powerpoint/2010/main" val="8015829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1E090-1EEE-4433-8481-A01934C5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N01：新快照的普通解封装均值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CE259-170E-4A2E-BFAA-DA160661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762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运行均值 / μs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238125" y="800100"/>
          <a:ext xmlns:a="http://schemas.openxmlformats.org/drawingml/2006/main" cx="8096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7c3c1ec7d0410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D2097-99A0-4718-BD76-2CDD87E1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8576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横轴为运行块；纵轴起点 45 μs；普通性能不用于判定防护效果</a:t>
            </a:r>
          </a:p>
        </p:txBody>
      </p:sp>
    </p:spTree>
    <p:extLst>
      <p:ext uri="{BB962C8B-B14F-4D97-AF65-F5344CB8AC3E}">
        <p14:creationId xmlns:p14="http://schemas.microsoft.com/office/powerpoint/2010/main" val="17442631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8BACC-5C0B-45F6-BAC9-63711178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固定精确复算任务的成本比较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A2B05-9FB8-4556-AE66-F333B74D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762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24 次窗口耗时合计 / s（对数坐标）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238125" y="800100"/>
          <a:ext xmlns:a="http://schemas.openxmlformats.org/drawingml/2006/main" cx="8096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785902c616493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00410-B8E8-4723-82EC-A1DDE08B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8576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预导入就绪成本 6.559904 s 另计；C 均含完整进程成本</a:t>
            </a:r>
          </a:p>
        </p:txBody>
      </p:sp>
    </p:spTree>
    <p:extLst>
      <p:ext uri="{BB962C8B-B14F-4D97-AF65-F5344CB8AC3E}">
        <p14:creationId xmlns:p14="http://schemas.microsoft.com/office/powerpoint/2010/main" val="20230831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0CEAD-DBC0-43E0-8AAE-3B5F450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固定有限模型的拒绝概率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9F2C5-12B2-4998-9E3D-35397752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762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模型内拒绝概率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238125" y="800100"/>
          <a:ext xmlns:a="http://schemas.openxmlformats.org/drawingml/2006/main" cx="8096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4535902e734e6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7C5A8-AE24-4D8B-A234-4A021091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8576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横轴按效应类别等距排列（合成 ns）；δ = 0 为误拒绝，δ &gt; 0 为检出</a:t>
            </a:r>
          </a:p>
        </p:txBody>
      </p:sp>
    </p:spTree>
    <p:extLst>
      <p:ext uri="{BB962C8B-B14F-4D97-AF65-F5344CB8AC3E}">
        <p14:creationId xmlns:p14="http://schemas.microsoft.com/office/powerpoint/2010/main" val="9617367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54488-2402-4BF0-8453-E78705F2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真实参考时间的后赋标签控制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DCFB9-36CA-4659-B97C-384A747B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762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条件拒绝数 / 4096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238125" y="800100"/>
          <a:ext xmlns:a="http://schemas.openxmlformats.org/drawingml/2006/main" cx="8096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d6e7df3dd84a3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27930-46FB-43ED-9E9B-BAB65F3C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8576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六块共 24576 种标签；每块概率低于 0.01；不代表真实总体误报率</a:t>
            </a:r>
          </a:p>
        </p:txBody>
      </p:sp>
    </p:spTree>
    <p:extLst>
      <p:ext uri="{BB962C8B-B14F-4D97-AF65-F5344CB8AC3E}">
        <p14:creationId xmlns:p14="http://schemas.microsoft.com/office/powerpoint/2010/main" val="16814751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8E79E-8398-4BF0-B133-DBA6C83A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结果复算与离线交付流程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41D41-4F26-49CE-BF76-28E9F80F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5250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固定源清单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检查文件摘要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8FA1E-6633-48D1-AA01-19149DE4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95250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构建与验收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记录实际环境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11CFC-C7D9-40D2-8F39-4174A916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95250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0B3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读取归档记录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执行结果复算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31D0B-84E6-450A-A775-A0D97CDE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95250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6F5E6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核对输出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保留执行日志</a:t>
            </a:r>
          </a:p>
        </p:txBody>
      </p:sp>
      <p:cxnSp>
        <p:nvCxnSpPr>
          <p:cNvPr id="17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000250" y="14525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143375" y="14525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286500" y="14525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D1D0F-D450-4E86-8627-E56219CF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2667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离线报告及图源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C28F2-6C5F-4C15-9AB2-F90BD988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9875"/>
            <a:ext cx="2667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6F5E6"/>
          </a:solidFill>
          <a:ln xmlns:a="http://schemas.openxmlformats.org/drawingml/2006/main" w="11430">
            <a:solidFill>
              <a:srgbClr val="414141"/>
            </a:solidFill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实际执行者与运行凭证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B6CBC-713C-461F-9EC0-0278452D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SimHei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SimHei"/>
                <a:cs typeface="SimSun"/>
              </a:rPr>
              <a:t>封存材料、实际环境、执行步骤与输出一致性共同留证</a:t>
            </a:r>
          </a:p>
        </p:txBody>
      </p:sp>
    </p:spTree>
    <p:extLst>
      <p:ext uri="{BB962C8B-B14F-4D97-AF65-F5344CB8AC3E}">
        <p14:creationId xmlns:p14="http://schemas.microsoft.com/office/powerpoint/2010/main" val="95876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8407C-BFB6-4C24-8753-D406A5DF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同机人工机制复测的分组均值差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12654-966C-42A0-AB4D-41F09E0A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762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分组均值差 / ns（恒定组 − 变化组）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238125" y="800100"/>
          <a:ext xmlns:a="http://schemas.openxmlformats.org/drawingml/2006/main" cx="8096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de7ca234ca434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9B00D-4A2C-48EB-99B2-84097121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8576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Times New Roman"/>
                <a:ea typeface="SimSun"/>
                <a:cs typeface="SimSun"/>
              </a:rPr>
              <a:t>五个预定种子；名义检验的未检出不等于差值为零或全库恒时</a:t>
            </a:r>
          </a:p>
        </p:txBody>
      </p:sp>
    </p:spTree>
    <p:extLst>
      <p:ext uri="{BB962C8B-B14F-4D97-AF65-F5344CB8AC3E}">
        <p14:creationId xmlns:p14="http://schemas.microsoft.com/office/powerpoint/2010/main" val="1144855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2026-10-08T04:07:03.2240000Z</dcterms:created>
  <dcterms:modified xsi:type="dcterms:W3CDTF">2026-10-08T04:07:03.2240000Z</dcterms:modified>
</coreProperties>
</file>
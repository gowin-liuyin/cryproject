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65d760424d14610" /><Relationship Type="http://schemas.openxmlformats.org/officeDocument/2006/relationships/extended-properties" Target="/docProps/app.xml" Id="R832db271ef3f4311" /><Relationship Type="http://schemas.openxmlformats.org/officeDocument/2006/relationships/officeDocument" Target="/ppt/presentation.xml" Id="R76285473f39440f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4856098d13044f8"/>
  </p:sldMasterIdLst>
  <p:notesMasterIdLst>
    <p:notesMasterId xmlns:r="http://schemas.openxmlformats.org/officeDocument/2006/relationships" r:id="Rdae70a5935ae4cc5"/>
  </p:notesMasterIdLst>
  <p:sldIdLst>
    <p:sldId xmlns:r="http://schemas.openxmlformats.org/officeDocument/2006/relationships" id="256" r:id="R99867c1af43f415c"/>
    <p:sldId xmlns:r="http://schemas.openxmlformats.org/officeDocument/2006/relationships" id="257" r:id="R8fb9607166fd4b26"/>
    <p:sldId xmlns:r="http://schemas.openxmlformats.org/officeDocument/2006/relationships" id="258" r:id="R2249203090664c36"/>
  </p:sldIdLst>
  <p:sldSz cx="5486400" cy="30861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59ab1045d2d4ded" /><Relationship Type="http://schemas.openxmlformats.org/officeDocument/2006/relationships/slideMaster" Target="/ppt/slideMasters/slideMaster1.xml" Id="Rd4856098d13044f8" /><Relationship Type="http://schemas.openxmlformats.org/officeDocument/2006/relationships/notesMaster" Target="/ppt/notesMasters/notesMaster1.xml" Id="Rdae70a5935ae4cc5" /><Relationship Type="http://schemas.openxmlformats.org/officeDocument/2006/relationships/presProps" Target="/ppt/presProps.xml" Id="R9222705dc0e743e5" /><Relationship Type="http://schemas.openxmlformats.org/officeDocument/2006/relationships/tableStyles" Target="/ppt/tableStyles.xml" Id="Rb1da60f223c14d76" /><Relationship Type="http://schemas.openxmlformats.org/officeDocument/2006/relationships/slide" Target="/ppt/slides/slide1.xml" Id="R99867c1af43f415c" /><Relationship Type="http://schemas.openxmlformats.org/officeDocument/2006/relationships/slide" Target="/ppt/slides/slide2.xml" Id="R8fb9607166fd4b26" /><Relationship Type="http://schemas.openxmlformats.org/officeDocument/2006/relationships/slide" Target="/ppt/slides/slide3.xml" Id="R2249203090664c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5d25f20d68445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95c928d61434c5d" /><Relationship Type="http://schemas.openxmlformats.org/officeDocument/2006/relationships/notesMaster" Target="/ppt/notesMasters/notesMaster1.xml" Id="R32f270047a294e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5266c95937a48e2" /><Relationship Type="http://schemas.openxmlformats.org/officeDocument/2006/relationships/notesMaster" Target="/ppt/notesMasters/notesMaster1.xml" Id="Rf0846abf93b64a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a2e8287158c48af" /><Relationship Type="http://schemas.openxmlformats.org/officeDocument/2006/relationships/notesMaster" Target="/ppt/notesMasters/notesMaster1.xml" Id="Rc36593fc851648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来源：src/audit.c、src/measure.c及docs/product-workflow.md。工程流程示意图，无秘密数据、无新测量，不是实际运行界面截图。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来源：docs/evidence/native-final-20261007/performance/performance.report，全部18个均值，单位仅从ns转为μs。原生x86_64 KVM、4vCPU。运行级iid未证明，图不提供总体显著判定。未删除数据或更改统计规则。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evidence/controlled-comparison-20261007/confirmation-results/comparison.report。C=0.080189s，SciPy=56.401718s，均为24进程合计。数据/全部2^20交换/判定一致。图用对数刻度展示差异，不是密码解封装加速、纯内核速度或检出能力提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c901c0060a47d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f9afa6071024c32" /><Relationship Type="http://schemas.openxmlformats.org/officeDocument/2006/relationships/slideLayout" Target="/ppt/slideLayouts/slideLayout1.xml" Id="Rac6c2a1e14d5428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6c2a1e14d5428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255b53d14648a1" /><Relationship Type="http://schemas.openxmlformats.org/officeDocument/2006/relationships/notesSlide" Target="/ppt/notesSlides/notesSlide1.xml" Id="R6782513de0b643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c2c2c2739f4894" /><Relationship Type="http://schemas.openxmlformats.org/officeDocument/2006/relationships/chart" Target="/ppt/slides/charts/chart1.xml" Id="R6b3a5aeac4e84b3d" /><Relationship Type="http://schemas.openxmlformats.org/officeDocument/2006/relationships/notesSlide" Target="/ppt/notesSlides/notesSlide2.xml" Id="R1d6c10447ff2481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c45ea74ac24df8" /><Relationship Type="http://schemas.openxmlformats.org/officeDocument/2006/relationships/chart" Target="/ppt/slides/charts/chart2.xml" Id="R58958aaa2d7f46ef" /><Relationship Type="http://schemas.openxmlformats.org/officeDocument/2006/relationships/notesSlide" Target="/ppt/notesSlides/notesSlide3.xml" Id="Ra18037ca541c4264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reference</c:v>
          </c:tx>
          <c:spPr>
            <a:solidFill xmlns:a="http://schemas.openxmlformats.org/drawingml/2006/main">
              <a:srgbClr val="000000"/>
            </a:solidFill>
            <a:ln xmlns:a="http://schemas.openxmlformats.org/drawingml/2006/main" w="13335">
              <a:solidFill>
                <a:srgbClr val="000000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000000"/>
              </a:solidFill>
            </c:spPr>
          </c:marker>
          <c:cat>
            <c:numRef>
              <c:f>'Chart Data'!$A$2:$A$7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'Chart Data'!$B$2:$B$7</c:f>
              <c:numCache>
                <c:formatCode>0.0</c:formatCode>
                <c:ptCount val="6"/>
                <c:pt idx="0">
                  <c:v>46.193516666667</c:v>
                </c:pt>
                <c:pt idx="1">
                  <c:v>46.407084333333</c:v>
                </c:pt>
                <c:pt idx="2">
                  <c:v>46.206193</c:v>
                </c:pt>
                <c:pt idx="3">
                  <c:v>46.267376666667</c:v>
                </c:pt>
                <c:pt idx="4">
                  <c:v>46.261239666667</c:v>
                </c:pt>
                <c:pt idx="5">
                  <c:v>46.077669666667</c:v>
                </c:pt>
              </c:numCache>
            </c:numRef>
          </c:val>
          <c:smooth val="0"/>
        </c:ser>
        <c:ser>
          <c:idx val="1"/>
          <c:order val="1"/>
          <c:tx>
            <c:v>hardened</c:v>
          </c:tx>
          <c:spPr>
            <a:solidFill xmlns:a="http://schemas.openxmlformats.org/drawingml/2006/main">
              <a:srgbClr val="2D526C"/>
            </a:solidFill>
            <a:ln xmlns:a="http://schemas.openxmlformats.org/drawingml/2006/main" w="13335">
              <a:solidFill>
                <a:srgbClr val="2D526C"/>
              </a:solidFill>
              <a:prstDash val="dash"/>
            </a:ln>
          </c:spPr>
          <c:marker>
            <c:symbol val="square"/>
            <c:size val="5"/>
            <c:spPr>
              <a:solidFill xmlns:a="http://schemas.openxmlformats.org/drawingml/2006/main">
                <a:srgbClr val="2D526C"/>
              </a:solidFill>
            </c:spPr>
          </c:marker>
          <c:cat>
            <c:numRef>
              <c:f>'Chart Data'!$C$2:$C$7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'Chart Data'!$D$2:$D$7</c:f>
              <c:numCache>
                <c:formatCode>0.0</c:formatCode>
                <c:ptCount val="6"/>
                <c:pt idx="0">
                  <c:v>46.148423</c:v>
                </c:pt>
                <c:pt idx="1">
                  <c:v>46.383034</c:v>
                </c:pt>
                <c:pt idx="2">
                  <c:v>46.350749</c:v>
                </c:pt>
                <c:pt idx="3">
                  <c:v>46.480338</c:v>
                </c:pt>
                <c:pt idx="4">
                  <c:v>46.401231</c:v>
                </c:pt>
                <c:pt idx="5">
                  <c:v>46.261061</c:v>
                </c:pt>
              </c:numCache>
            </c:numRef>
          </c:val>
          <c:smooth val="0"/>
        </c:ser>
        <c:ser>
          <c:idx val="2"/>
          <c:order val="2"/>
          <c:tx>
            <c:v>deployable</c:v>
          </c:tx>
          <c:spPr>
            <a:solidFill xmlns:a="http://schemas.openxmlformats.org/drawingml/2006/main">
              <a:srgbClr val="777777"/>
            </a:solidFill>
            <a:ln xmlns:a="http://schemas.openxmlformats.org/drawingml/2006/main" w="13335">
              <a:solidFill>
                <a:srgbClr val="777777"/>
              </a:solidFill>
              <a:prstDash val="dot"/>
            </a:ln>
          </c:spPr>
          <c:marker>
            <c:symbol val="triangle"/>
            <c:size val="5"/>
            <c:spPr>
              <a:solidFill xmlns:a="http://schemas.openxmlformats.org/drawingml/2006/main">
                <a:srgbClr val="777777"/>
              </a:solidFill>
            </c:spPr>
          </c:marker>
          <c:cat>
            <c:numRef>
              <c:f>'Chart Data'!$E$2:$E$7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'Chart Data'!$F$2:$F$7</c:f>
              <c:numCache>
                <c:formatCode>0.0</c:formatCode>
                <c:ptCount val="6"/>
                <c:pt idx="0">
                  <c:v>45.925622666667</c:v>
                </c:pt>
                <c:pt idx="1">
                  <c:v>46.102585</c:v>
                </c:pt>
                <c:pt idx="2">
                  <c:v>46.209969</c:v>
                </c:pt>
                <c:pt idx="3">
                  <c:v>46.621075</c:v>
                </c:pt>
                <c:pt idx="4">
                  <c:v>46.241867</c:v>
                </c:pt>
                <c:pt idx="5">
                  <c:v>46.131357333333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Times New Roman"/>
                  <a:ea typeface="楷体_GB2312"/>
                  <a:cs typeface="Times New Roman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00">
                    <a:latin typeface="Times New Roman"/>
                    <a:ea typeface="楷体_GB2312"/>
                    <a:cs typeface="楷体_GB2312"/>
                  </a:rPr>
                  <a:t>运行块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00">
                  <a:latin typeface="Times New Roman"/>
                  <a:ea typeface="楷体_GB2312"/>
                  <a:cs typeface="楷体_GB2312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00000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00">
                <a:solidFill>
                  <a:srgbClr val="666666"/>
                </a:solidFill>
                <a:latin typeface="Times New Roman"/>
                <a:ea typeface="楷体_GB2312"/>
                <a:cs typeface="Times New Roman"/>
              </a:defRPr>
            </a:pPr>
          </a:p>
        </c:txPr>
        <c:crossAx val="48672768"/>
      </c:catAx>
      <c:valAx>
        <c:axId val="48672768"/>
        <c:scaling>
          <c:orientation val="minMax"/>
          <c:max val="47"/>
          <c:min val="45.5"/>
        </c:scaling>
        <c:delete val="0"/>
        <c:axPos val="l"/>
        <c:majorGridlines>
          <c:spPr>
            <a:ln xmlns:a="http://schemas.openxmlformats.org/drawingml/2006/main" w="4763">
              <a:solidFill>
                <a:srgbClr val="D0D0D0"/>
              </a:solidFill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00000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00">
                <a:solidFill>
                  <a:srgbClr val="666666"/>
                </a:solidFill>
                <a:latin typeface="Times New Roman"/>
                <a:ea typeface="楷体_GB2312"/>
                <a:cs typeface="Times New Roman"/>
              </a:defRPr>
            </a:pPr>
          </a:p>
        </c:txPr>
        <c:crossAx val="48650112"/>
        <c:crossBetween val="between"/>
        <c:majorUnit val="0.5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00">
              <a:latin typeface="Times New Roman"/>
              <a:ea typeface="楷体_GB2312"/>
              <a:cs typeface="Times New Roman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完整进程成本合计 / s</c:v>
          </c:tx>
          <c:spPr>
            <a:solidFill xmlns:a="http://schemas.openxmlformats.org/drawingml/2006/main">
              <a:srgbClr val="2D526C"/>
            </a:solidFill>
          </c:spPr>
          <c:cat>
            <c:strRef>
              <c:f>'Chart Data'!$A$2:$A$3</c:f>
              <c:strCache>
                <c:ptCount val="2"/>
                <c:pt idx="0">
                  <c:v>C11</c:v>
                </c:pt>
                <c:pt idx="1">
                  <c:v>SciPy 1.16.3</c:v>
                </c:pt>
              </c:strCache>
            </c:strRef>
          </c:cat>
          <c:val>
            <c:numRef>
              <c:f>'Chart Data'!$B$2:$B$3</c:f>
              <c:numCache>
                <c:formatCode>0.000000</c:formatCode>
                <c:ptCount val="2"/>
                <c:pt idx="0">
                  <c:v>0.080189</c:v>
                </c:pt>
                <c:pt idx="1">
                  <c:v>56.401718</c:v>
                </c:pt>
              </c:numCache>
            </c:numRef>
          </c:val>
        </c:ser>
        <c:dLbls>
          <c:numFmt formatCode="0.000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Times New Roman"/>
                  <a:ea typeface="楷体_GB2312"/>
                  <a:cs typeface="Times New Roman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00000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00">
                <a:solidFill>
                  <a:srgbClr val="666666"/>
                </a:solidFill>
                <a:latin typeface="Times New Roman"/>
                <a:ea typeface="楷体_GB2312"/>
                <a:cs typeface="Times New Roman"/>
              </a:defRPr>
            </a:pPr>
          </a:p>
        </c:txPr>
        <c:crossAx val="48672768"/>
      </c:catAx>
      <c:valAx>
        <c:axId val="48672768"/>
        <c:scaling>
          <c:logBase val="10"/>
          <c:orientation val="minMax"/>
          <c:max val="100"/>
          <c:min val="0.01"/>
        </c:scaling>
        <c:delete val="0"/>
        <c:axPos val="b"/>
        <c:majorGridlines>
          <c:spPr>
            <a:ln xmlns:a="http://schemas.openxmlformats.org/drawingml/2006/main" w="4763">
              <a:solidFill>
                <a:srgbClr val="D0D0D0"/>
              </a:solidFill>
            </a:ln>
          </c:spPr>
        </c:majorGridlines>
        <c:numFmt formatCode="0.##"/>
        <c:majorTickMark val="none"/>
        <c:minorTickMark val="none"/>
        <c:spPr>
          <a:ln xmlns:a="http://schemas.openxmlformats.org/drawingml/2006/main" w="9525">
            <a:solidFill>
              <a:srgbClr val="00000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00">
                <a:solidFill>
                  <a:srgbClr val="666666"/>
                </a:solidFill>
                <a:latin typeface="Times New Roman"/>
                <a:ea typeface="楷体_GB2312"/>
                <a:cs typeface="Times New Roman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workflow-1">
            <a:extLst xmlns:a="http://schemas.openxmlformats.org/drawingml/2006/main">
              <a:ext uri="{FF2B5EF4-FFF2-40B4-BE49-F238E27FC236}">
                <a16:creationId xmlns:a16="http://schemas.microsoft.com/office/drawing/2014/main" id="{90AC7D24-97A2-4F1B-9A6B-0B3BA5769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381000"/>
            <a:ext cx="16002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00000"/>
            </a:solidFill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defRPr>
            </a:pPr>
            <a:r>
              <a: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rPr>
              <a:t>公开输入</a:t>
            </a:r>
          </a:p>
          <a:p xmlns:a="http://schemas.openxmlformats.org/drawingml/2006/main">
            <a:pPr algn="ctr">
              <a:def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defRPr>
            </a:pPr>
            <a:r>
              <a: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rPr>
              <a:t>系统随机源</a:t>
            </a:r>
          </a:p>
        </p:txBody>
      </p:sp>
      <p:sp>
        <p:nvSpPr>
          <p:cNvPr id="2" name="workflow-2">
            <a:extLst xmlns:a="http://schemas.openxmlformats.org/drawingml/2006/main">
              <a:ext uri="{FF2B5EF4-FFF2-40B4-BE49-F238E27FC236}">
                <a16:creationId xmlns:a16="http://schemas.microsoft.com/office/drawing/2014/main" id="{FC574C30-A7A6-49AD-8E4D-98FA49FD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81000"/>
            <a:ext cx="16002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00000"/>
            </a:solidFill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defRPr>
            </a:pPr>
            <a:r>
              <a: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rPr>
              <a:t>隔离实现</a:t>
            </a:r>
          </a:p>
          <a:p xmlns:a="http://schemas.openxmlformats.org/drawingml/2006/main">
            <a:pPr algn="ctr">
              <a:def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defRPr>
            </a:pPr>
            <a:r>
              <a: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rPr>
              <a:t>ML-KEM-768</a:t>
            </a:r>
          </a:p>
        </p:txBody>
      </p:sp>
      <p:sp>
        <p:nvSpPr>
          <p:cNvPr id="3" name="workflow-3">
            <a:extLst xmlns:a="http://schemas.openxmlformats.org/drawingml/2006/main">
              <a:ext uri="{FF2B5EF4-FFF2-40B4-BE49-F238E27FC236}">
                <a16:creationId xmlns:a16="http://schemas.microsoft.com/office/drawing/2014/main" id="{2915CFCA-E487-4F82-BE97-BAA74A396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"/>
            <a:ext cx="16002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00000"/>
            </a:solidFill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defRPr>
            </a:pPr>
            <a:r>
              <a: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rPr>
              <a:t>完整解封装</a:t>
            </a:r>
          </a:p>
          <a:p xmlns:a="http://schemas.openxmlformats.org/drawingml/2006/main">
            <a:pPr algn="ctr">
              <a:def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defRPr>
            </a:pPr>
            <a:r>
              <a: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rPr>
              <a:t>C 窗口计时</a:t>
            </a:r>
          </a:p>
        </p:txBody>
      </p:sp>
      <p:sp>
        <p:nvSpPr>
          <p:cNvPr id="4" name="workflow-4">
            <a:extLst xmlns:a="http://schemas.openxmlformats.org/drawingml/2006/main">
              <a:ext uri="{FF2B5EF4-FFF2-40B4-BE49-F238E27FC236}">
                <a16:creationId xmlns:a16="http://schemas.microsoft.com/office/drawing/2014/main" id="{87207F62-0CBD-4709-8E4B-88D07622D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1809750"/>
            <a:ext cx="16002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00000"/>
            </a:solidFill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defRPr>
            </a:pPr>
            <a:r>
              <a: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rPr>
              <a:t>报告与复算</a:t>
            </a:r>
          </a:p>
        </p:txBody>
      </p:sp>
      <p:sp>
        <p:nvSpPr>
          <p:cNvPr id="5" name="workflow-5">
            <a:extLst xmlns:a="http://schemas.openxmlformats.org/drawingml/2006/main">
              <a:ext uri="{FF2B5EF4-FFF2-40B4-BE49-F238E27FC236}">
                <a16:creationId xmlns:a16="http://schemas.microsoft.com/office/drawing/2014/main" id="{7BDCADDB-D66A-478B-B768-F19E71517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1809750"/>
            <a:ext cx="16002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00000"/>
            </a:solidFill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defRPr>
            </a:pPr>
            <a:r>
              <a: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rPr>
              <a:t>数据资格</a:t>
            </a:r>
          </a:p>
          <a:p xmlns:a="http://schemas.openxmlformats.org/drawingml/2006/main">
            <a:pPr algn="ctr">
              <a:def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defRPr>
            </a:pPr>
            <a:r>
              <a: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rPr>
              <a:t>条件分析</a:t>
            </a:r>
          </a:p>
        </p:txBody>
      </p:sp>
      <p:sp>
        <p:nvSpPr>
          <p:cNvPr id="6" name="workflow-6">
            <a:extLst xmlns:a="http://schemas.openxmlformats.org/drawingml/2006/main">
              <a:ext uri="{FF2B5EF4-FFF2-40B4-BE49-F238E27FC236}">
                <a16:creationId xmlns:a16="http://schemas.microsoft.com/office/drawing/2014/main" id="{DC602162-DE15-4ED2-85F4-84346A40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809750"/>
            <a:ext cx="16002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00000"/>
            </a:solidFill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defRPr>
            </a:pPr>
            <a:r>
              <a: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rPr>
              <a:t>逐次记录</a:t>
            </a:r>
          </a:p>
          <a:p xmlns:a="http://schemas.openxmlformats.org/drawingml/2006/main">
            <a:pPr algn="ctr">
              <a:def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defRPr>
            </a:pPr>
            <a:r>
              <a: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rPr>
              <a:t>源与产物身份</a:t>
            </a:r>
          </a:p>
        </p:txBody>
      </p:sp>
      <p:cxnSp>
        <p:nvCxnSpPr>
          <p:cNvPr id="19" name=""/>
          <p:cNvCxnSpPr>
            <a:stCxn xmlns:a="http://schemas.openxmlformats.org/drawingml/2006/main" id="1" idx="3"/>
            <a:endCxn xmlns:a="http://schemas.openxmlformats.org/drawingml/2006/main" id="2" idx="1"/>
          </p:cNvCxnSpPr>
          <p:nvPr/>
        </p:nvCxnSpPr>
        <p:spPr>
          <a:xfrm xmlns:a="http://schemas.openxmlformats.org/drawingml/2006/main">
            <a:off x="1733550" y="6953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000000"/>
            </a:solidFill>
            <a:tailEnd type="arrow" w="sm" len="sm"/>
          </a:ln>
        </p:spPr>
      </p:cxnSp>
      <p:cxnSp>
        <p:nvCxnSpPr>
          <p:cNvPr id="20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543300" y="6953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000000"/>
            </a:solidFill>
            <a:tailEnd type="arrow" w="sm" len="sm"/>
          </a:ln>
        </p:spPr>
      </p:cxnSp>
      <p:cxnSp>
        <p:nvCxnSpPr>
          <p:cNvPr id="21" name=""/>
          <p:cNvCxnSpPr>
            <a:stCxn xmlns:a="http://schemas.openxmlformats.org/drawingml/2006/main" id="3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4552950" y="1009650"/>
            <a:ext cx="0" cy="80010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000000"/>
            </a:solidFill>
            <a:tailEnd type="arrow" w="sm" len="sm"/>
          </a:ln>
        </p:spPr>
      </p:cxnSp>
      <p:cxnSp>
        <p:nvCxnSpPr>
          <p:cNvPr id="22" name=""/>
          <p:cNvCxnSpPr>
            <a:stCxn xmlns:a="http://schemas.openxmlformats.org/drawingml/2006/main" id="6" idx="1"/>
            <a:endCxn xmlns:a="http://schemas.openxmlformats.org/drawingml/2006/main" id="5" idx="3"/>
          </p:cNvCxnSpPr>
          <p:nvPr/>
        </p:nvCxnSpPr>
        <p:spPr>
          <a:xfrm xmlns:a="http://schemas.openxmlformats.org/drawingml/2006/main" flipH="1">
            <a:off x="3543300" y="21240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000000"/>
            </a:solidFill>
            <a:tailEnd type="arrow" w="sm" len="sm"/>
          </a:ln>
        </p:spPr>
      </p:cxnSp>
      <p:cxnSp>
        <p:nvCxnSpPr>
          <p:cNvPr id="23" name=""/>
          <p:cNvCxnSpPr>
            <a:stCxn xmlns:a="http://schemas.openxmlformats.org/drawingml/2006/main" id="5" idx="1"/>
            <a:endCxn xmlns:a="http://schemas.openxmlformats.org/drawingml/2006/main" id="4" idx="3"/>
          </p:cNvCxnSpPr>
          <p:nvPr/>
        </p:nvCxnSpPr>
        <p:spPr>
          <a:xfrm xmlns:a="http://schemas.openxmlformats.org/drawingml/2006/main" flipH="1">
            <a:off x="1733550" y="21240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000000"/>
            </a:solidFill>
            <a:tailEnd type="arrow" w="sm" len="sm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D8EF94-8849-4F7D-AAC2-E3D715CF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2667000"/>
            <a:ext cx="521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defRPr>
            </a:pPr>
            <a:r>
              <a: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rPr>
              <a:t>输入、分配、结果消费和I/O位于计时窗口外</a:t>
            </a:r>
          </a:p>
        </p:txBody>
      </p:sp>
    </p:spTree>
    <p:extLst>
      <p:ext uri="{BB962C8B-B14F-4D97-AF65-F5344CB8AC3E}">
        <p14:creationId xmlns:p14="http://schemas.microsoft.com/office/powerpoint/2010/main" val="2820461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aphicFrame>
        <p:nvGraphicFramePr>
          <p:cNvPr id="4" name="Chart"/>
          <p:cNvGraphicFramePr/>
          <p:nvPr/>
        </p:nvGraphicFramePr>
        <p:xfrm>
          <a:off xmlns:a="http://schemas.openxmlformats.org/drawingml/2006/main" x="76200" y="228600"/>
          <a:ext xmlns:a="http://schemas.openxmlformats.org/drawingml/2006/main" cx="5334000" cy="2457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b3a5aeac4e84b3d"/>
          </a:graphicData>
        </a:graphic>
      </p:graphicFrame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70E7B1-8680-4E7D-8C12-60A379A64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0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defRPr>
            </a:pPr>
            <a:r>
              <a: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rPr>
              <a:t>运行均值 / μs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A24119-B588-4590-B3B5-EA31EF94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2771775"/>
            <a:ext cx="518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defRPr>
            </a:pPr>
            <a:r>
              <a: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rPr>
              <a:t>纵轴起点45.5 μs。探索区间跨零。</a:t>
            </a:r>
          </a:p>
        </p:txBody>
      </p:sp>
    </p:spTree>
    <p:extLst>
      <p:ext uri="{BB962C8B-B14F-4D97-AF65-F5344CB8AC3E}">
        <p14:creationId xmlns:p14="http://schemas.microsoft.com/office/powerpoint/2010/main" val="2652643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aphicFrame>
        <p:nvGraphicFramePr>
          <p:cNvPr id="7" name="Chart"/>
          <p:cNvGraphicFramePr/>
          <p:nvPr/>
        </p:nvGraphicFramePr>
        <p:xfrm>
          <a:off xmlns:a="http://schemas.openxmlformats.org/drawingml/2006/main" x="133350" y="381000"/>
          <a:ext xmlns:a="http://schemas.openxmlformats.org/drawingml/2006/main" cx="5219700" cy="2133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8958aaa2d7f46ef"/>
          </a:graphicData>
        </a:graphic>
      </p:graphicFrame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6E5DDC-086B-494B-932C-C51408C9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7620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>
                <a:solidFill>
                  <a:srgbClr val="000000"/>
                </a:solidFill>
                <a:latin typeface="Times New Roman"/>
                <a:ea typeface="楷体_GB2312"/>
                <a:cs typeface="Times New Roman"/>
              </a:defRPr>
            </a:pPr>
            <a:r>
              <a:rPr sz="1400">
                <a:solidFill>
                  <a:srgbClr val="FFFFFF"/>
                </a:solidFill>
                <a:latin typeface="Times New Roman"/>
                <a:ea typeface="楷体_GB2312"/>
                <a:cs typeface="Times New Roman"/>
              </a:rPr>
              <a:t>56.401718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A01C07-1A88-4AE7-AE5A-7A92FBC4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628775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>
                <a:solidFill>
                  <a:srgbClr val="000000"/>
                </a:solidFill>
                <a:latin typeface="Times New Roman"/>
                <a:ea typeface="楷体_GB2312"/>
                <a:cs typeface="Times New Roman"/>
              </a:defRPr>
            </a:pPr>
            <a:r>
              <a:rPr sz="1400">
                <a:solidFill>
                  <a:srgbClr val="FFFFFF"/>
                </a:solidFill>
                <a:latin typeface="Times New Roman"/>
                <a:ea typeface="楷体_GB2312"/>
                <a:cs typeface="Times New Roman"/>
              </a:rPr>
              <a:t>0.080189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56D2F4-6698-4FE3-AD36-19B68CE2E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" y="19050"/>
            <a:ext cx="5257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defRPr>
            </a:pPr>
            <a:r>
              <a: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rPr>
              <a:t>完整进程成本合计 / s（对数刻度）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05ABDB-6C46-4FA7-898E-C0DF7D83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" y="2571750"/>
            <a:ext cx="5257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defRPr>
            </a:pPr>
            <a:r>
              <a: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rPr>
              <a:t>每方法24个进程，包含启动、导入和读写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C8E789-DEF3-48CE-81AB-741517F6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" y="2819400"/>
            <a:ext cx="5257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defRPr>
            </a:pPr>
            <a:r>
              <a:rPr sz="1400">
                <a:solidFill>
                  <a:srgbClr val="000000"/>
                </a:solidFill>
                <a:latin typeface="Times New Roman"/>
                <a:ea typeface="楷体_GB2312"/>
                <a:cs typeface="楷体_GB2312"/>
              </a:rPr>
              <a:t>范围：固定精确复算任务</a:t>
            </a:r>
          </a:p>
        </p:txBody>
      </p:sp>
    </p:spTree>
    <p:extLst>
      <p:ext uri="{BB962C8B-B14F-4D97-AF65-F5344CB8AC3E}">
        <p14:creationId xmlns:p14="http://schemas.microsoft.com/office/powerpoint/2010/main" val="11231290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2026-10-07T06:10:55.9120000Z</dcterms:created>
  <dcterms:modified xsi:type="dcterms:W3CDTF">2026-10-07T06:10:55.9120000Z</dcterms:modified>
</coreProperties>
</file>
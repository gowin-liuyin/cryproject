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d1dca2173a4c53" /><Relationship Type="http://schemas.openxmlformats.org/officeDocument/2006/relationships/extended-properties" Target="/docProps/app.xml" Id="Re144268c0e854b9b" /><Relationship Type="http://schemas.openxmlformats.org/officeDocument/2006/relationships/officeDocument" Target="/ppt/presentation.xml" Id="R2023507a8d504d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5537070ed04bb5"/>
  </p:sldMasterIdLst>
  <p:notesMasterIdLst>
    <p:notesMasterId xmlns:r="http://schemas.openxmlformats.org/officeDocument/2006/relationships" r:id="Rdf02a3d0d615495e"/>
  </p:notesMasterIdLst>
  <p:sldIdLst>
    <p:sldId xmlns:r="http://schemas.openxmlformats.org/officeDocument/2006/relationships" id="256" r:id="Ref71d49ceddc4414"/>
    <p:sldId xmlns:r="http://schemas.openxmlformats.org/officeDocument/2006/relationships" id="257" r:id="R108efa37d9604502"/>
    <p:sldId xmlns:r="http://schemas.openxmlformats.org/officeDocument/2006/relationships" id="258" r:id="R8a9a5c3aafa14e7f"/>
  </p:sldIdLst>
  <p:sldSz cx="5486400" cy="30861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0e831a6474d82" /><Relationship Type="http://schemas.openxmlformats.org/officeDocument/2006/relationships/slideMaster" Target="/ppt/slideMasters/slideMaster1.xml" Id="R675537070ed04bb5" /><Relationship Type="http://schemas.openxmlformats.org/officeDocument/2006/relationships/notesMaster" Target="/ppt/notesMasters/notesMaster1.xml" Id="Rdf02a3d0d615495e" /><Relationship Type="http://schemas.openxmlformats.org/officeDocument/2006/relationships/presProps" Target="/ppt/presProps.xml" Id="R18742e709dda4541" /><Relationship Type="http://schemas.openxmlformats.org/officeDocument/2006/relationships/tableStyles" Target="/ppt/tableStyles.xml" Id="Rcae7db140f2a47c6" /><Relationship Type="http://schemas.openxmlformats.org/officeDocument/2006/relationships/slide" Target="/ppt/slides/slide1.xml" Id="Ref71d49ceddc4414" /><Relationship Type="http://schemas.openxmlformats.org/officeDocument/2006/relationships/slide" Target="/ppt/slides/slide2.xml" Id="R108efa37d9604502" /><Relationship Type="http://schemas.openxmlformats.org/officeDocument/2006/relationships/slide" Target="/ppt/slides/slide3.xml" Id="R8a9a5c3aafa14e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27a9b4c8a24f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668a9772aa4c7a" /><Relationship Type="http://schemas.openxmlformats.org/officeDocument/2006/relationships/notesMaster" Target="/ppt/notesMasters/notesMaster1.xml" Id="R9f062874983c40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d5e6a05c244524" /><Relationship Type="http://schemas.openxmlformats.org/officeDocument/2006/relationships/notesMaster" Target="/ppt/notesMasters/notesMaster1.xml" Id="R3c54292b1fde4f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f8b94168f747de" /><Relationship Type="http://schemas.openxmlformats.org/officeDocument/2006/relationships/notesMaster" Target="/ppt/notesMasters/notesMaster1.xml" Id="R5f0ce5c93ddd4b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来源：src/audit.c、src/measure.c及docs/product-workflow.md。工程流程示意图，无秘密数据、无新测量，不是实际运行界面截图。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来源：docs/evidence/native-final-20261007/performance/performance.report，全部18个均值，单位仅从ns转为μs。原生x86_64 KVM、4vCPU。运行级iid未证明，图不提供总体显著判定。未删除数据或更改统计规则。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idence/controlled-comparison-20261007/confirmation-results/comparison.report及docs/evidence/warm-replay-20261007/formal/comparison.report。完整进程C=0.080189s、SciPy=56.401718s；预导入C=0.079016s、SciPy就绪后=49.704188s，准备6.559904s单独保留。全部8份既有任务、48次各次精确尾计数一致。两条件分别测量，不能相减估计启动成本。后者是成本边界敏感性补充而非新独立确认。图为对数刻度，不是密码解封装或纯内核加速、不是统计灵敏度增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f3f31bfc5b4b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93d1601b4f4c8f" /><Relationship Type="http://schemas.openxmlformats.org/officeDocument/2006/relationships/slideLayout" Target="/ppt/slideLayouts/slideLayout1.xml" Id="Rffa0453ff5ee4e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a0453ff5ee4e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e856ab44a4a8d" /><Relationship Type="http://schemas.openxmlformats.org/officeDocument/2006/relationships/notesSlide" Target="/ppt/notesSlides/notesSlide1.xml" Id="R5c0786d39e7348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fe62d224842a7" /><Relationship Type="http://schemas.openxmlformats.org/officeDocument/2006/relationships/chart" Target="/ppt/slides/charts/chart1.xml" Id="R56a2158774714661" /><Relationship Type="http://schemas.openxmlformats.org/officeDocument/2006/relationships/notesSlide" Target="/ppt/notesSlides/notesSlide2.xml" Id="R4ec53f6acb634c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b6292535a4102" /><Relationship Type="http://schemas.openxmlformats.org/officeDocument/2006/relationships/chart" Target="/ppt/slides/charts/chart2.xml" Id="R6c2ae44f4f7644f8" /><Relationship Type="http://schemas.openxmlformats.org/officeDocument/2006/relationships/notesSlide" Target="/ppt/notesSlides/notesSlide3.xml" Id="Rb6724df76c6949c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reference</c:v>
          </c:tx>
          <c:spPr>
            <a:solidFill xmlns:a="http://schemas.openxmlformats.org/drawingml/2006/main">
              <a:srgbClr val="000000"/>
            </a:solidFill>
            <a:ln xmlns:a="http://schemas.openxmlformats.org/drawingml/2006/main" w="13335">
              <a:solidFill>
                <a:srgbClr val="0000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0000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46.193516666667</c:v>
                </c:pt>
                <c:pt idx="1">
                  <c:v>46.407084333333</c:v>
                </c:pt>
                <c:pt idx="2">
                  <c:v>46.206193</c:v>
                </c:pt>
                <c:pt idx="3">
                  <c:v>46.267376666667</c:v>
                </c:pt>
                <c:pt idx="4">
                  <c:v>46.261239666667</c:v>
                </c:pt>
                <c:pt idx="5">
                  <c:v>46.077669666667</c:v>
                </c:pt>
              </c:numCache>
            </c:numRef>
          </c:val>
          <c:smooth val="0"/>
        </c:ser>
        <c:ser>
          <c:idx val="1"/>
          <c:order val="1"/>
          <c:tx>
            <c:v>hardened</c:v>
          </c:tx>
          <c:spPr>
            <a:solidFill xmlns:a="http://schemas.openxmlformats.org/drawingml/2006/main">
              <a:srgbClr val="2D526C"/>
            </a:solidFill>
            <a:ln xmlns:a="http://schemas.openxmlformats.org/drawingml/2006/main" w="13335">
              <a:solidFill>
                <a:srgbClr val="2D526C"/>
              </a:solidFill>
              <a:prstDash val="dash"/>
            </a:ln>
          </c:spPr>
          <c:marker>
            <c:symbol val="square"/>
            <c:size val="5"/>
            <c:spPr>
              <a:solidFill xmlns:a="http://schemas.openxmlformats.org/drawingml/2006/main">
                <a:srgbClr val="2D526C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46.148423</c:v>
                </c:pt>
                <c:pt idx="1">
                  <c:v>46.383034</c:v>
                </c:pt>
                <c:pt idx="2">
                  <c:v>46.350749</c:v>
                </c:pt>
                <c:pt idx="3">
                  <c:v>46.480338</c:v>
                </c:pt>
                <c:pt idx="4">
                  <c:v>46.401231</c:v>
                </c:pt>
                <c:pt idx="5">
                  <c:v>46.261061</c:v>
                </c:pt>
              </c:numCache>
            </c:numRef>
          </c:val>
          <c:smooth val="0"/>
        </c:ser>
        <c:ser>
          <c:idx val="2"/>
          <c:order val="2"/>
          <c:tx>
            <c:v>deployable</c:v>
          </c:tx>
          <c:spPr>
            <a:solidFill xmlns:a="http://schemas.openxmlformats.org/drawingml/2006/main">
              <a:srgbClr val="777777"/>
            </a:solidFill>
            <a:ln xmlns:a="http://schemas.openxmlformats.org/drawingml/2006/main" w="13335">
              <a:solidFill>
                <a:srgbClr val="777777"/>
              </a:solidFill>
              <a:prstDash val="dot"/>
            </a:ln>
          </c:spPr>
          <c:marker>
            <c:symbol val="triangle"/>
            <c:size val="5"/>
            <c:spPr>
              <a:solidFill xmlns:a="http://schemas.openxmlformats.org/drawingml/2006/main">
                <a:srgbClr val="777777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'Chart Data'!$F$2:$F$7</c:f>
              <c:numCache>
                <c:formatCode>0.0</c:formatCode>
                <c:ptCount val="6"/>
                <c:pt idx="0">
                  <c:v>45.925622666667</c:v>
                </c:pt>
                <c:pt idx="1">
                  <c:v>46.102585</c:v>
                </c:pt>
                <c:pt idx="2">
                  <c:v>46.209969</c:v>
                </c:pt>
                <c:pt idx="3">
                  <c:v>46.621075</c:v>
                </c:pt>
                <c:pt idx="4">
                  <c:v>46.241867</c:v>
                </c:pt>
                <c:pt idx="5">
                  <c:v>46.131357333333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Times New Roman"/>
                  <a:ea typeface="楷体_GB2312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00">
                    <a:latin typeface="Times New Roman"/>
                    <a:ea typeface="楷体_GB2312"/>
                    <a:cs typeface="楷体_GB2312"/>
                  </a:rPr>
                  <a:t>运行块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00">
                  <a:latin typeface="Times New Roman"/>
                  <a:ea typeface="楷体_GB2312"/>
                  <a:cs typeface="楷体_GB2312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666666"/>
                </a:solidFill>
                <a:latin typeface="Times New Roman"/>
                <a:ea typeface="楷体_GB2312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47"/>
          <c:min val="45.5"/>
        </c:scaling>
        <c:delete val="0"/>
        <c:axPos val="l"/>
        <c:majorGridlines>
          <c:spPr>
            <a:ln xmlns:a="http://schemas.openxmlformats.org/drawingml/2006/main" w="4763">
              <a:solidFill>
                <a:srgbClr val="D0D0D0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666666"/>
                </a:solidFill>
                <a:latin typeface="Times New Roman"/>
                <a:ea typeface="楷体_GB2312"/>
                <a:cs typeface="Times New Roman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>
              <a:latin typeface="Times New Roman"/>
              <a:ea typeface="楷体_GB2312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C11</c:v>
          </c:tx>
          <c:spPr>
            <a:solidFill xmlns:a="http://schemas.openxmlformats.org/drawingml/2006/main">
              <a:srgbClr val="444444"/>
            </a:solidFill>
          </c:spPr>
          <c:cat>
            <c:strRef>
              <c:f>'Chart Data'!$A$2:$A$3</c:f>
              <c:strCache>
                <c:ptCount val="2"/>
                <c:pt idx="0">
                  <c:v>完整进程</c:v>
                </c:pt>
                <c:pt idx="1">
                  <c:v>SciPy预导入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0.080189</c:v>
                </c:pt>
                <c:pt idx="1">
                  <c:v>0.079016</c:v>
                </c:pt>
              </c:numCache>
            </c:numRef>
          </c:val>
        </c:ser>
        <c:ser>
          <c:idx val="1"/>
          <c:order val="1"/>
          <c:tx>
            <c:v>SciPy 1.16.3</c:v>
          </c:tx>
          <c:spPr>
            <a:solidFill xmlns:a="http://schemas.openxmlformats.org/drawingml/2006/main">
              <a:srgbClr val="2D526C"/>
            </a:solidFill>
          </c:spPr>
          <c:cat>
            <c:strRef>
              <c:f>'Chart Data'!$C$2:$C$3</c:f>
              <c:strCache>
                <c:ptCount val="2"/>
                <c:pt idx="0">
                  <c:v>完整进程</c:v>
                </c:pt>
                <c:pt idx="1">
                  <c:v>SciPy预导入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56.401718</c:v>
                </c:pt>
                <c:pt idx="1">
                  <c:v>49.704188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00">
                  <a:solidFill>
                    <a:srgbClr val="FFFFFF"/>
                  </a:solidFill>
                  <a:latin typeface="Times New Roman"/>
                  <a:ea typeface="楷体_GB2312"/>
                  <a:cs typeface="Times New Roman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666666"/>
                </a:solidFill>
                <a:latin typeface="Times New Roman"/>
                <a:ea typeface="楷体_GB2312"/>
                <a:cs typeface="Times New Roman"/>
              </a:defRPr>
            </a:pPr>
          </a:p>
        </c:txPr>
        <c:crossAx val="48672768"/>
      </c:catAx>
      <c:valAx>
        <c:axId val="48672768"/>
        <c:scaling>
          <c:logBase val="10"/>
          <c:orientation val="minMax"/>
          <c:max val="100"/>
          <c:min val="0.0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0D0D0"/>
              </a:solidFill>
            </a:ln>
          </c:spPr>
        </c:majorGridlines>
        <c:numFmt formatCode="0.##"/>
        <c:majorTickMark val="none"/>
        <c:minorTickMark val="none"/>
        <c:spPr>
          <a:ln xmlns:a="http://schemas.openxmlformats.org/drawingml/2006/main" w="9525">
            <a:solidFill>
              <a:srgbClr val="00000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00">
                <a:solidFill>
                  <a:srgbClr val="666666"/>
                </a:solidFill>
                <a:latin typeface="Times New Roman"/>
                <a:ea typeface="楷体_GB2312"/>
                <a:cs typeface="Times New Roman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00">
              <a:latin typeface="Times New Roman"/>
              <a:ea typeface="楷体_GB2312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workflow-1">
            <a:extLst xmlns:a="http://schemas.openxmlformats.org/drawingml/2006/main">
              <a:ext uri="{FF2B5EF4-FFF2-40B4-BE49-F238E27FC236}">
                <a16:creationId xmlns:a16="http://schemas.microsoft.com/office/drawing/2014/main" id="{309A74B1-0312-4394-88BA-B8F7A6DC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810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公开输入</a:t>
            </a:r>
          </a:p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系统随机源</a:t>
            </a:r>
          </a:p>
        </p:txBody>
      </p:sp>
      <p:sp>
        <p:nvSpPr>
          <p:cNvPr id="2" name="workflow-2">
            <a:extLst xmlns:a="http://schemas.openxmlformats.org/drawingml/2006/main">
              <a:ext uri="{FF2B5EF4-FFF2-40B4-BE49-F238E27FC236}">
                <a16:creationId xmlns:a16="http://schemas.microsoft.com/office/drawing/2014/main" id="{33A4ED56-1756-4AA7-AFCC-70094E29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10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隔离实现</a:t>
            </a:r>
          </a:p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ML-KEM-768</a:t>
            </a:r>
          </a:p>
        </p:txBody>
      </p:sp>
      <p:sp>
        <p:nvSpPr>
          <p:cNvPr id="3" name="workflow-3">
            <a:extLst xmlns:a="http://schemas.openxmlformats.org/drawingml/2006/main">
              <a:ext uri="{FF2B5EF4-FFF2-40B4-BE49-F238E27FC236}">
                <a16:creationId xmlns:a16="http://schemas.microsoft.com/office/drawing/2014/main" id="{0D03111C-B44E-4B95-8972-988A2532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完整解封装</a:t>
            </a:r>
          </a:p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C 窗口计时</a:t>
            </a:r>
          </a:p>
        </p:txBody>
      </p:sp>
      <p:sp>
        <p:nvSpPr>
          <p:cNvPr id="4" name="workflow-4">
            <a:extLst xmlns:a="http://schemas.openxmlformats.org/drawingml/2006/main">
              <a:ext uri="{FF2B5EF4-FFF2-40B4-BE49-F238E27FC236}">
                <a16:creationId xmlns:a16="http://schemas.microsoft.com/office/drawing/2014/main" id="{B1CC657C-C79E-4B07-A369-787E04B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80975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报告与复算</a:t>
            </a:r>
          </a:p>
        </p:txBody>
      </p:sp>
      <p:sp>
        <p:nvSpPr>
          <p:cNvPr id="5" name="workflow-5">
            <a:extLst xmlns:a="http://schemas.openxmlformats.org/drawingml/2006/main">
              <a:ext uri="{FF2B5EF4-FFF2-40B4-BE49-F238E27FC236}">
                <a16:creationId xmlns:a16="http://schemas.microsoft.com/office/drawing/2014/main" id="{553C193B-5EBB-4C28-889A-7A06260B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0975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数据资格</a:t>
            </a:r>
          </a:p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条件分析</a:t>
            </a:r>
          </a:p>
        </p:txBody>
      </p:sp>
      <p:sp>
        <p:nvSpPr>
          <p:cNvPr id="6" name="workflow-6">
            <a:extLst xmlns:a="http://schemas.openxmlformats.org/drawingml/2006/main">
              <a:ext uri="{FF2B5EF4-FFF2-40B4-BE49-F238E27FC236}">
                <a16:creationId xmlns:a16="http://schemas.microsoft.com/office/drawing/2014/main" id="{CA71A30E-A939-4FEC-A50A-2AB4EBC7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9750"/>
            <a:ext cx="1600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</a:ln>
        </p:spPr>
        <p:txBody>
          <a:bodyPr xmlns:a="http://schemas.openxmlformats.org/drawingml/2006/main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逐次记录</a:t>
            </a:r>
          </a:p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源与产物身份</a:t>
            </a:r>
          </a:p>
        </p:txBody>
      </p:sp>
      <p:cxnSp>
        <p:nvCxnSpPr>
          <p:cNvPr id="19" name=""/>
          <p:cNvCxnSpPr>
            <a:stCxn xmlns:a="http://schemas.openxmlformats.org/drawingml/2006/main" id="1" idx="3"/>
            <a:endCxn xmlns:a="http://schemas.openxmlformats.org/drawingml/2006/main" id="2" idx="1"/>
          </p:cNvCxnSpPr>
          <p:nvPr/>
        </p:nvCxnSpPr>
        <p:spPr>
          <a:xfrm xmlns:a="http://schemas.openxmlformats.org/drawingml/2006/main">
            <a:off x="1733550" y="695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tailEnd type="arrow" w="sm" len="sm"/>
          </a:ln>
        </p:spPr>
      </p:cxnSp>
      <p:cxnSp>
        <p:nvCxnSpPr>
          <p:cNvPr id="20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543300" y="6953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tailEnd type="arrow" w="sm" len="sm"/>
          </a:ln>
        </p:spPr>
      </p:cxnSp>
      <p:cxnSp>
        <p:nvCxnSpPr>
          <p:cNvPr id="21" name=""/>
          <p:cNvCxnSpPr>
            <a:stCxn xmlns:a="http://schemas.openxmlformats.org/drawingml/2006/main" id="3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4552950" y="1009650"/>
            <a:ext cx="0" cy="80010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tailEnd type="arrow" w="sm" len="sm"/>
          </a:ln>
        </p:spPr>
      </p:cxnSp>
      <p:cxnSp>
        <p:nvCxnSpPr>
          <p:cNvPr id="22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354330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tailEnd type="arrow" w="sm" len="sm"/>
          </a:ln>
        </p:spPr>
      </p:cxnSp>
      <p:cxnSp>
        <p:nvCxnSpPr>
          <p:cNvPr id="23" name=""/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1733550" y="21240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000000"/>
            </a:solidFill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DC56C-6A60-4397-A0EF-A6E4F483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66700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输入、分配、结果消费和I/O位于计时窗口外</a:t>
            </a:r>
          </a:p>
        </p:txBody>
      </p:sp>
    </p:spTree>
    <p:extLst>
      <p:ext uri="{BB962C8B-B14F-4D97-AF65-F5344CB8AC3E}">
        <p14:creationId xmlns:p14="http://schemas.microsoft.com/office/powerpoint/2010/main" val="791180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/>
          <p:cNvGraphicFramePr/>
          <p:nvPr/>
        </p:nvGraphicFramePr>
        <p:xfrm>
          <a:off xmlns:a="http://schemas.openxmlformats.org/drawingml/2006/main" x="76200" y="228600"/>
          <a:ext xmlns:a="http://schemas.openxmlformats.org/drawingml/2006/main" cx="5334000" cy="2457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a2158774714661"/>
          </a:graphicData>
        </a:graphic>
      </p:graphicFrame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8F00B-4EE6-4693-B75F-64C9F198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运行均值 / μs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A85D28-D558-4A5F-880D-36C8C312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2771775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纵轴起点45.5 μs。探索区间跨零。</a:t>
            </a:r>
          </a:p>
        </p:txBody>
      </p:sp>
    </p:spTree>
    <p:extLst>
      <p:ext uri="{BB962C8B-B14F-4D97-AF65-F5344CB8AC3E}">
        <p14:creationId xmlns:p14="http://schemas.microsoft.com/office/powerpoint/2010/main" val="12905903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5" name="Chart"/>
          <p:cNvGraphicFramePr/>
          <p:nvPr/>
        </p:nvGraphicFramePr>
        <p:xfrm>
          <a:off xmlns:a="http://schemas.openxmlformats.org/drawingml/2006/main" x="95250" y="323850"/>
          <a:ext xmlns:a="http://schemas.openxmlformats.org/drawingml/2006/main" cx="52959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c2ae44f4f7644f8"/>
          </a:graphicData>
        </a:graphic>
      </p:graphicFrame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02FFD7-AFF1-4116-AFAE-E558803B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9050"/>
            <a:ext cx="5257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复算窗口成本合计 / s（对数刻度）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D312E-013E-49EC-BA1E-A8E03211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571750"/>
            <a:ext cx="5257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每条件每方法24次；C包含完整启动与读写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75536-EB17-4846-8A33-FFC33714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2819400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defRPr>
            </a:pPr>
            <a:r>
              <a:rPr sz="1400">
                <a:solidFill>
                  <a:srgbClr val="000000"/>
                </a:solidFill>
                <a:latin typeface="Times New Roman"/>
                <a:ea typeface="楷体_GB2312"/>
                <a:cs typeface="楷体_GB2312"/>
              </a:rPr>
              <a:t>预导入准备另计6.560 s；非纯内核比较</a:t>
            </a:r>
          </a:p>
        </p:txBody>
      </p:sp>
    </p:spTree>
    <p:extLst>
      <p:ext uri="{BB962C8B-B14F-4D97-AF65-F5344CB8AC3E}">
        <p14:creationId xmlns:p14="http://schemas.microsoft.com/office/powerpoint/2010/main" val="442883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2026-10-07T07:58:16.4230000Z</dcterms:created>
  <dcterms:modified xsi:type="dcterms:W3CDTF">2026-10-07T07:58:16.4240000Z</dcterms:modified>
</coreProperties>
</file>